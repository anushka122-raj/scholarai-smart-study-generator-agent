
<file path=[Content_Types].xml><?xml version="1.0" encoding="utf-8"?>
<Types xmlns="http://schemas.openxmlformats.org/package/2006/content-types">
  <Default Extension="png" ContentType="image/png"/>
  <Default Extension="webp"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90" r:id="rId2"/>
    <p:sldId id="291" r:id="rId3"/>
    <p:sldId id="311" r:id="rId4"/>
    <p:sldId id="312" r:id="rId5"/>
    <p:sldId id="310" r:id="rId6"/>
    <p:sldId id="316" r:id="rId7"/>
    <p:sldId id="317" r:id="rId8"/>
    <p:sldId id="318" r:id="rId9"/>
    <p:sldId id="292" r:id="rId10"/>
    <p:sldId id="293" r:id="rId11"/>
    <p:sldId id="294" r:id="rId12"/>
    <p:sldId id="295" r:id="rId13"/>
    <p:sldId id="296" r:id="rId14"/>
    <p:sldId id="297" r:id="rId15"/>
    <p:sldId id="314" r:id="rId16"/>
    <p:sldId id="315" r:id="rId17"/>
    <p:sldId id="298" r:id="rId18"/>
    <p:sldId id="299" r:id="rId19"/>
    <p:sldId id="300" r:id="rId20"/>
    <p:sldId id="301" r:id="rId21"/>
    <p:sldId id="302" r:id="rId22"/>
    <p:sldId id="303" r:id="rId23"/>
    <p:sldId id="304" r:id="rId24"/>
    <p:sldId id="305" r:id="rId25"/>
    <p:sldId id="306" r:id="rId26"/>
    <p:sldId id="307" r:id="rId27"/>
    <p:sldId id="308" r:id="rId28"/>
    <p:sldId id="309"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BE1"/>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93" autoAdjust="0"/>
    <p:restoredTop sz="94660"/>
  </p:normalViewPr>
  <p:slideViewPr>
    <p:cSldViewPr snapToGrid="0" showGuides="1">
      <p:cViewPr varScale="1">
        <p:scale>
          <a:sx n="74" d="100"/>
          <a:sy n="74" d="100"/>
        </p:scale>
        <p:origin x="101" y="245"/>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diagrams/_rels/data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5.png"/><Relationship Id="rId1" Type="http://schemas.openxmlformats.org/officeDocument/2006/relationships/image" Target="../media/image31.png"/><Relationship Id="rId4" Type="http://schemas.openxmlformats.org/officeDocument/2006/relationships/image" Target="../media/image27.png"/></Relationships>
</file>

<file path=ppt/diagrams/_rels/data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image" Target="../media/image43.jp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diagrams/_rels/drawing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5.png"/><Relationship Id="rId1" Type="http://schemas.openxmlformats.org/officeDocument/2006/relationships/image" Target="../media/image31.png"/><Relationship Id="rId4" Type="http://schemas.openxmlformats.org/officeDocument/2006/relationships/image" Target="../media/image27.png"/></Relationships>
</file>

<file path=ppt/diagrams/_rels/drawing3.xml.rels><?xml version="1.0" encoding="UTF-8" standalone="yes"?>
<Relationships xmlns="http://schemas.openxmlformats.org/package/2006/relationships"><Relationship Id="rId1" Type="http://schemas.openxmlformats.org/officeDocument/2006/relationships/image" Target="../media/image43.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66A211-2E8C-458A-8E5F-19D6930D5643}"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US"/>
        </a:p>
      </dgm:t>
    </dgm:pt>
    <dgm:pt modelId="{B323DB03-8698-434A-9F60-549C61A57D3A}">
      <dgm:prSet phldrT="[Text]"/>
      <dgm:spPr/>
      <dgm:t>
        <a:bodyPr/>
        <a:lstStyle/>
        <a:p>
          <a:r>
            <a:rPr lang="en-US" smtClean="0"/>
            <a:t> </a:t>
          </a:r>
          <a:endParaRPr lang="en-US"/>
        </a:p>
      </dgm:t>
    </dgm:pt>
    <dgm:pt modelId="{C6B4D6FB-D482-4CE0-A850-790AAC2B7BB4}" type="parTrans" cxnId="{D6739871-1952-408C-B315-A689B259D2A1}">
      <dgm:prSet/>
      <dgm:spPr/>
      <dgm:t>
        <a:bodyPr/>
        <a:lstStyle/>
        <a:p>
          <a:endParaRPr lang="en-US"/>
        </a:p>
      </dgm:t>
    </dgm:pt>
    <dgm:pt modelId="{91E0413D-862F-4DFC-89E8-0D5E1EE38D9E}" type="sibTrans" cxnId="{D6739871-1952-408C-B315-A689B259D2A1}">
      <dgm:prSet/>
      <dgm:spPr/>
      <dgm:t>
        <a:bodyPr/>
        <a:lstStyle/>
        <a:p>
          <a:endParaRPr lang="en-US"/>
        </a:p>
      </dgm:t>
    </dgm:pt>
    <dgm:pt modelId="{DE35F349-8CA8-4828-B111-3FCC5D5D7CAC}">
      <dgm:prSet phldrT="[Text]"/>
      <dgm:spPr/>
      <dgm:t>
        <a:bodyPr/>
        <a:lstStyle/>
        <a:p>
          <a:r>
            <a:rPr lang="en-US" dirty="0" smtClean="0">
              <a:solidFill>
                <a:schemeClr val="bg1"/>
              </a:solidFill>
            </a:rPr>
            <a:t>WELCOME MESSAGE ALONG WITH QUICK PROMPTS  FOR AGENT </a:t>
          </a:r>
          <a:endParaRPr lang="en-US" dirty="0">
            <a:solidFill>
              <a:schemeClr val="bg1"/>
            </a:solidFill>
          </a:endParaRPr>
        </a:p>
      </dgm:t>
    </dgm:pt>
    <dgm:pt modelId="{551C748C-A2D4-42BE-A5AF-D352EEBC9CBF}" type="parTrans" cxnId="{58D2C498-EB26-4380-ACA8-C752508487F8}">
      <dgm:prSet/>
      <dgm:spPr/>
      <dgm:t>
        <a:bodyPr/>
        <a:lstStyle/>
        <a:p>
          <a:endParaRPr lang="en-US"/>
        </a:p>
      </dgm:t>
    </dgm:pt>
    <dgm:pt modelId="{F95B2D6D-C78B-4F28-A2BA-21DC2A0F7D52}" type="sibTrans" cxnId="{58D2C498-EB26-4380-ACA8-C752508487F8}">
      <dgm:prSet/>
      <dgm:spPr/>
      <dgm:t>
        <a:bodyPr/>
        <a:lstStyle/>
        <a:p>
          <a:endParaRPr lang="en-US"/>
        </a:p>
      </dgm:t>
    </dgm:pt>
    <dgm:pt modelId="{D91D8623-BD70-4D57-B3FB-6AB489E1809F}">
      <dgm:prSet phldrT="[Text]"/>
      <dgm:spPr/>
      <dgm:t>
        <a:bodyPr/>
        <a:lstStyle/>
        <a:p>
          <a:r>
            <a:rPr lang="en-US" dirty="0" smtClean="0">
              <a:solidFill>
                <a:schemeClr val="bg1"/>
              </a:solidFill>
            </a:rPr>
            <a:t>KNOWLEDGE OPTION</a:t>
          </a:r>
        </a:p>
        <a:p>
          <a:r>
            <a:rPr lang="en-US" dirty="0" smtClean="0">
              <a:solidFill>
                <a:schemeClr val="bg1"/>
              </a:solidFill>
            </a:rPr>
            <a:t>  FOR AGENT </a:t>
          </a:r>
          <a:endParaRPr lang="en-US" dirty="0">
            <a:solidFill>
              <a:schemeClr val="bg1"/>
            </a:solidFill>
          </a:endParaRPr>
        </a:p>
      </dgm:t>
    </dgm:pt>
    <dgm:pt modelId="{3E0B3007-BA71-4A6C-AF06-56989BFA995C}" type="parTrans" cxnId="{C77D60C3-5762-431D-AE83-1D87B9AB1130}">
      <dgm:prSet/>
      <dgm:spPr/>
      <dgm:t>
        <a:bodyPr/>
        <a:lstStyle/>
        <a:p>
          <a:endParaRPr lang="en-US"/>
        </a:p>
      </dgm:t>
    </dgm:pt>
    <dgm:pt modelId="{72F407BD-AE26-41BC-92A7-16D09FEDE61F}" type="sibTrans" cxnId="{C77D60C3-5762-431D-AE83-1D87B9AB1130}">
      <dgm:prSet/>
      <dgm:spPr/>
      <dgm:t>
        <a:bodyPr/>
        <a:lstStyle/>
        <a:p>
          <a:endParaRPr lang="en-US"/>
        </a:p>
      </dgm:t>
    </dgm:pt>
    <dgm:pt modelId="{D63B6D08-54FE-4F4F-8A30-2268B1C5D00D}">
      <dgm:prSet phldrT="[Text]"/>
      <dgm:spPr/>
      <dgm:t>
        <a:bodyPr/>
        <a:lstStyle/>
        <a:p>
          <a:r>
            <a:rPr lang="en-US" dirty="0" smtClean="0">
              <a:solidFill>
                <a:schemeClr val="bg1"/>
              </a:solidFill>
            </a:rPr>
            <a:t>KNOWLEDGE  BASE OPTION  APPEAR WHEN WE CLICK EDIT </a:t>
          </a:r>
          <a:r>
            <a:rPr lang="en-US" dirty="0" smtClean="0"/>
            <a:t>FOR THE AGENT</a:t>
          </a:r>
        </a:p>
        <a:p>
          <a:endParaRPr lang="en-US" dirty="0"/>
        </a:p>
      </dgm:t>
    </dgm:pt>
    <dgm:pt modelId="{3BC14E30-6B3A-48D0-9391-BF918BC01938}" type="parTrans" cxnId="{C53F694A-6B91-4843-A4C9-F1C21C2C7CAB}">
      <dgm:prSet/>
      <dgm:spPr/>
      <dgm:t>
        <a:bodyPr/>
        <a:lstStyle/>
        <a:p>
          <a:endParaRPr lang="en-US"/>
        </a:p>
      </dgm:t>
    </dgm:pt>
    <dgm:pt modelId="{2CC98A00-C83F-48A8-9109-54F9710B7D7B}" type="sibTrans" cxnId="{C53F694A-6B91-4843-A4C9-F1C21C2C7CAB}">
      <dgm:prSet/>
      <dgm:spPr/>
      <dgm:t>
        <a:bodyPr/>
        <a:lstStyle/>
        <a:p>
          <a:endParaRPr lang="en-US"/>
        </a:p>
      </dgm:t>
    </dgm:pt>
    <dgm:pt modelId="{FA347820-F107-4E17-BAFC-A89EE38A363C}">
      <dgm:prSet/>
      <dgm:spPr/>
      <dgm:t>
        <a:bodyPr/>
        <a:lstStyle/>
        <a:p>
          <a:endParaRPr lang="en-US" dirty="0"/>
        </a:p>
      </dgm:t>
    </dgm:pt>
    <dgm:pt modelId="{F345C186-150A-4C65-87D7-11E64F9ECF6F}" type="parTrans" cxnId="{F961B37B-044F-4ADA-B3A8-2296C1FE75D0}">
      <dgm:prSet/>
      <dgm:spPr/>
      <dgm:t>
        <a:bodyPr/>
        <a:lstStyle/>
        <a:p>
          <a:endParaRPr lang="en-US"/>
        </a:p>
      </dgm:t>
    </dgm:pt>
    <dgm:pt modelId="{D70D9E34-C9D6-4336-95E6-0B8F9E0AC873}" type="sibTrans" cxnId="{F961B37B-044F-4ADA-B3A8-2296C1FE75D0}">
      <dgm:prSet/>
      <dgm:spPr/>
      <dgm:t>
        <a:bodyPr/>
        <a:lstStyle/>
        <a:p>
          <a:endParaRPr lang="en-US"/>
        </a:p>
      </dgm:t>
    </dgm:pt>
    <dgm:pt modelId="{5CA642A0-A9BF-4B02-833F-7FCA0C9B2AE6}">
      <dgm:prSet/>
      <dgm:spPr/>
      <dgm:t>
        <a:bodyPr/>
        <a:lstStyle/>
        <a:p>
          <a:endParaRPr lang="en-US" dirty="0"/>
        </a:p>
      </dgm:t>
    </dgm:pt>
    <dgm:pt modelId="{088B2B93-4FED-42F3-831E-34AEB9193F1B}" type="parTrans" cxnId="{FB8F79AA-13B9-4663-9DDB-DA85BFB6E956}">
      <dgm:prSet/>
      <dgm:spPr/>
      <dgm:t>
        <a:bodyPr/>
        <a:lstStyle/>
        <a:p>
          <a:endParaRPr lang="en-US"/>
        </a:p>
      </dgm:t>
    </dgm:pt>
    <dgm:pt modelId="{ED053A82-EE34-463A-B7DD-96F81BD38841}" type="sibTrans" cxnId="{FB8F79AA-13B9-4663-9DDB-DA85BFB6E956}">
      <dgm:prSet/>
      <dgm:spPr/>
      <dgm:t>
        <a:bodyPr/>
        <a:lstStyle/>
        <a:p>
          <a:endParaRPr lang="en-US"/>
        </a:p>
      </dgm:t>
    </dgm:pt>
    <dgm:pt modelId="{27E0BB10-88B1-450D-A319-39C1A86C79A5}" type="pres">
      <dgm:prSet presAssocID="{5566A211-2E8C-458A-8E5F-19D6930D5643}" presName="Name0" presStyleCnt="0">
        <dgm:presLayoutVars>
          <dgm:dir/>
          <dgm:resizeHandles val="exact"/>
        </dgm:presLayoutVars>
      </dgm:prSet>
      <dgm:spPr/>
      <dgm:t>
        <a:bodyPr/>
        <a:lstStyle/>
        <a:p>
          <a:endParaRPr lang="en-US"/>
        </a:p>
      </dgm:t>
    </dgm:pt>
    <dgm:pt modelId="{EA9A5E8C-2895-4085-A1FA-3342E52628B6}" type="pres">
      <dgm:prSet presAssocID="{B323DB03-8698-434A-9F60-549C61A57D3A}" presName="compNode" presStyleCnt="0"/>
      <dgm:spPr/>
    </dgm:pt>
    <dgm:pt modelId="{22029C4A-D9C1-4765-8EB6-0D189F83B4B6}" type="pres">
      <dgm:prSet presAssocID="{B323DB03-8698-434A-9F60-549C61A57D3A}" presName="pictRect" presStyleLbl="node1" presStyleIdx="0" presStyleCnt="6" custScaleX="140816" custScaleY="126825" custLinFactNeighborX="-24271" custLinFactNeighborY="8204"/>
      <dgm:spPr>
        <a:prstGeom prst="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11" t="-27200" r="2070" b="7195"/>
          </a:stretch>
        </a:blipFill>
      </dgm:spPr>
    </dgm:pt>
    <dgm:pt modelId="{7CF9BAD6-E59A-4418-A654-DBD1DCA92464}" type="pres">
      <dgm:prSet presAssocID="{B323DB03-8698-434A-9F60-549C61A57D3A}" presName="textRect" presStyleLbl="revTx" presStyleIdx="0" presStyleCnt="6" custLinFactNeighborX="-23193" custLinFactNeighborY="17742">
        <dgm:presLayoutVars>
          <dgm:bulletEnabled val="1"/>
        </dgm:presLayoutVars>
      </dgm:prSet>
      <dgm:spPr/>
      <dgm:t>
        <a:bodyPr/>
        <a:lstStyle/>
        <a:p>
          <a:endParaRPr lang="en-US"/>
        </a:p>
      </dgm:t>
    </dgm:pt>
    <dgm:pt modelId="{C785E3FC-5B60-4570-8681-31ED7A8DA00B}" type="pres">
      <dgm:prSet presAssocID="{91E0413D-862F-4DFC-89E8-0D5E1EE38D9E}" presName="sibTrans" presStyleLbl="sibTrans2D1" presStyleIdx="0" presStyleCnt="0"/>
      <dgm:spPr/>
      <dgm:t>
        <a:bodyPr/>
        <a:lstStyle/>
        <a:p>
          <a:endParaRPr lang="en-US"/>
        </a:p>
      </dgm:t>
    </dgm:pt>
    <dgm:pt modelId="{2EE50470-155E-4476-B362-3D965D002472}" type="pres">
      <dgm:prSet presAssocID="{DE35F349-8CA8-4828-B111-3FCC5D5D7CAC}" presName="compNode" presStyleCnt="0"/>
      <dgm:spPr/>
    </dgm:pt>
    <dgm:pt modelId="{06E95453-B007-4090-AF3D-2A53C61EDD2A}" type="pres">
      <dgm:prSet presAssocID="{DE35F349-8CA8-4828-B111-3FCC5D5D7CAC}" presName="pictRect" presStyleLbl="node1" presStyleIdx="1" presStyleCnt="6" custScaleX="121110" custScaleY="125192" custLinFactNeighborX="-3462" custLinFactNeighborY="-15146"/>
      <dgm:spPr>
        <a:prstGeom prst="rect">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17033" r="-17033"/>
          </a:stretch>
        </a:blipFill>
      </dgm:spPr>
      <dgm:t>
        <a:bodyPr/>
        <a:lstStyle/>
        <a:p>
          <a:endParaRPr lang="en-US"/>
        </a:p>
      </dgm:t>
    </dgm:pt>
    <dgm:pt modelId="{914AB3E7-D664-4268-926F-AC1D30EBD0DC}" type="pres">
      <dgm:prSet presAssocID="{DE35F349-8CA8-4828-B111-3FCC5D5D7CAC}" presName="textRect" presStyleLbl="revTx" presStyleIdx="1" presStyleCnt="6" custScaleX="126794" custScaleY="84559">
        <dgm:presLayoutVars>
          <dgm:bulletEnabled val="1"/>
        </dgm:presLayoutVars>
      </dgm:prSet>
      <dgm:spPr/>
      <dgm:t>
        <a:bodyPr/>
        <a:lstStyle/>
        <a:p>
          <a:endParaRPr lang="en-US"/>
        </a:p>
      </dgm:t>
    </dgm:pt>
    <dgm:pt modelId="{9E5E7E5D-9C7A-43A3-B4C0-964858D41235}" type="pres">
      <dgm:prSet presAssocID="{F95B2D6D-C78B-4F28-A2BA-21DC2A0F7D52}" presName="sibTrans" presStyleLbl="sibTrans2D1" presStyleIdx="0" presStyleCnt="0"/>
      <dgm:spPr/>
      <dgm:t>
        <a:bodyPr/>
        <a:lstStyle/>
        <a:p>
          <a:endParaRPr lang="en-US"/>
        </a:p>
      </dgm:t>
    </dgm:pt>
    <dgm:pt modelId="{E815484D-108E-4459-82E8-806C5241BB5E}" type="pres">
      <dgm:prSet presAssocID="{D91D8623-BD70-4D57-B3FB-6AB489E1809F}" presName="compNode" presStyleCnt="0"/>
      <dgm:spPr/>
    </dgm:pt>
    <dgm:pt modelId="{10660646-E5A4-4CFC-B382-17E13F0FED61}" type="pres">
      <dgm:prSet presAssocID="{D91D8623-BD70-4D57-B3FB-6AB489E1809F}" presName="pictRect" presStyleLbl="node1" presStyleIdx="2" presStyleCnt="6"/>
      <dgm:spPr>
        <a:blipFill>
          <a:blip xmlns:r="http://schemas.openxmlformats.org/officeDocument/2006/relationships" r:embed="rId3">
            <a:extLst>
              <a:ext uri="{28A0092B-C50C-407E-A947-70E740481C1C}">
                <a14:useLocalDpi xmlns:a14="http://schemas.microsoft.com/office/drawing/2010/main" val="0"/>
              </a:ext>
            </a:extLst>
          </a:blip>
          <a:srcRect/>
          <a:stretch>
            <a:fillRect l="-15000" r="-15000"/>
          </a:stretch>
        </a:blipFill>
      </dgm:spPr>
    </dgm:pt>
    <dgm:pt modelId="{2F8692C6-B542-43A4-A5BE-EB887103D1F4}" type="pres">
      <dgm:prSet presAssocID="{D91D8623-BD70-4D57-B3FB-6AB489E1809F}" presName="textRect" presStyleLbl="revTx" presStyleIdx="2" presStyleCnt="6">
        <dgm:presLayoutVars>
          <dgm:bulletEnabled val="1"/>
        </dgm:presLayoutVars>
      </dgm:prSet>
      <dgm:spPr/>
      <dgm:t>
        <a:bodyPr/>
        <a:lstStyle/>
        <a:p>
          <a:endParaRPr lang="en-US"/>
        </a:p>
      </dgm:t>
    </dgm:pt>
    <dgm:pt modelId="{79756867-81F7-4EB2-8012-CA782E7BE312}" type="pres">
      <dgm:prSet presAssocID="{72F407BD-AE26-41BC-92A7-16D09FEDE61F}" presName="sibTrans" presStyleLbl="sibTrans2D1" presStyleIdx="0" presStyleCnt="0"/>
      <dgm:spPr/>
      <dgm:t>
        <a:bodyPr/>
        <a:lstStyle/>
        <a:p>
          <a:endParaRPr lang="en-US"/>
        </a:p>
      </dgm:t>
    </dgm:pt>
    <dgm:pt modelId="{B18478CE-9FF7-4475-822D-5CDE7A6E93F2}" type="pres">
      <dgm:prSet presAssocID="{D63B6D08-54FE-4F4F-8A30-2268B1C5D00D}" presName="compNode" presStyleCnt="0"/>
      <dgm:spPr/>
    </dgm:pt>
    <dgm:pt modelId="{D1083B71-927B-4533-9719-FB98EE7208CD}" type="pres">
      <dgm:prSet presAssocID="{D63B6D08-54FE-4F4F-8A30-2268B1C5D00D}" presName="pictRect" presStyleLbl="node1" presStyleIdx="3" presStyleCnt="6" custScaleX="152361" custScaleY="125145" custLinFactNeighborX="-83008" custLinFactNeighborY="-3924"/>
      <dgm:spPr>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15000" r="-15000"/>
          </a:stretch>
        </a:blipFill>
      </dgm:spPr>
    </dgm:pt>
    <dgm:pt modelId="{028765CC-1C67-4404-B3E9-AE4DE79C2F41}" type="pres">
      <dgm:prSet presAssocID="{D63B6D08-54FE-4F4F-8A30-2268B1C5D00D}" presName="textRect" presStyleLbl="revTx" presStyleIdx="3" presStyleCnt="6" custLinFactNeighborX="64808" custLinFactNeighborY="13327">
        <dgm:presLayoutVars>
          <dgm:bulletEnabled val="1"/>
        </dgm:presLayoutVars>
      </dgm:prSet>
      <dgm:spPr/>
      <dgm:t>
        <a:bodyPr/>
        <a:lstStyle/>
        <a:p>
          <a:endParaRPr lang="en-US"/>
        </a:p>
      </dgm:t>
    </dgm:pt>
    <dgm:pt modelId="{C47DAB72-D6FC-43A9-AEA8-A35B2125C1FE}" type="pres">
      <dgm:prSet presAssocID="{2CC98A00-C83F-48A8-9109-54F9710B7D7B}" presName="sibTrans" presStyleLbl="sibTrans2D1" presStyleIdx="0" presStyleCnt="0"/>
      <dgm:spPr/>
      <dgm:t>
        <a:bodyPr/>
        <a:lstStyle/>
        <a:p>
          <a:endParaRPr lang="en-US"/>
        </a:p>
      </dgm:t>
    </dgm:pt>
    <dgm:pt modelId="{0D9CF075-3C42-43B4-B766-711523824E64}" type="pres">
      <dgm:prSet presAssocID="{FA347820-F107-4E17-BAFC-A89EE38A363C}" presName="compNode" presStyleCnt="0"/>
      <dgm:spPr/>
    </dgm:pt>
    <dgm:pt modelId="{B12E33D5-A1DF-410B-841A-BE3B5BD87087}" type="pres">
      <dgm:prSet presAssocID="{FA347820-F107-4E17-BAFC-A89EE38A363C}" presName="pictRect" presStyleLbl="node1" presStyleIdx="4" presStyleCnt="6" custScaleX="170665" custScaleY="123928" custLinFactNeighborX="-11244" custLinFactNeighborY="-4086"/>
      <dgm:spPr>
        <a:prstGeom prst="rect">
          <a:avLst/>
        </a:prstGeom>
        <a:blipFill dpi="0" rotWithShape="1">
          <a:blip xmlns:r="http://schemas.openxmlformats.org/officeDocument/2006/relationships" r:embed="rId5">
            <a:extLst>
              <a:ext uri="{28A0092B-C50C-407E-A947-70E740481C1C}">
                <a14:useLocalDpi xmlns:a14="http://schemas.microsoft.com/office/drawing/2010/main" val="0"/>
              </a:ext>
            </a:extLst>
          </a:blip>
          <a:srcRect/>
          <a:stretch>
            <a:fillRect l="-15000" t="-2083" r="-15000"/>
          </a:stretch>
        </a:blipFill>
      </dgm:spPr>
    </dgm:pt>
    <dgm:pt modelId="{35383B0A-EEA3-4555-866E-C3B6624ECB3B}" type="pres">
      <dgm:prSet presAssocID="{FA347820-F107-4E17-BAFC-A89EE38A363C}" presName="textRect" presStyleLbl="revTx" presStyleIdx="4" presStyleCnt="6">
        <dgm:presLayoutVars>
          <dgm:bulletEnabled val="1"/>
        </dgm:presLayoutVars>
      </dgm:prSet>
      <dgm:spPr/>
      <dgm:t>
        <a:bodyPr/>
        <a:lstStyle/>
        <a:p>
          <a:endParaRPr lang="en-US"/>
        </a:p>
      </dgm:t>
    </dgm:pt>
    <dgm:pt modelId="{58CAB2F4-2F16-43F6-A666-58F65FF0BF30}" type="pres">
      <dgm:prSet presAssocID="{D70D9E34-C9D6-4336-95E6-0B8F9E0AC873}" presName="sibTrans" presStyleLbl="sibTrans2D1" presStyleIdx="0" presStyleCnt="0"/>
      <dgm:spPr/>
      <dgm:t>
        <a:bodyPr/>
        <a:lstStyle/>
        <a:p>
          <a:endParaRPr lang="en-US"/>
        </a:p>
      </dgm:t>
    </dgm:pt>
    <dgm:pt modelId="{AE746904-CF22-4D96-95F7-BF8C2A91370D}" type="pres">
      <dgm:prSet presAssocID="{5CA642A0-A9BF-4B02-833F-7FCA0C9B2AE6}" presName="compNode" presStyleCnt="0"/>
      <dgm:spPr/>
    </dgm:pt>
    <dgm:pt modelId="{74BE6E92-BC59-4B2D-B60D-D5EE9ECFB372}" type="pres">
      <dgm:prSet presAssocID="{5CA642A0-A9BF-4B02-833F-7FCA0C9B2AE6}" presName="pictRect" presStyleLbl="node1" presStyleIdx="5" presStyleCnt="6"/>
      <dgm:spPr>
        <a:blipFill>
          <a:blip xmlns:r="http://schemas.openxmlformats.org/officeDocument/2006/relationships" r:embed="rId6">
            <a:extLst>
              <a:ext uri="{28A0092B-C50C-407E-A947-70E740481C1C}">
                <a14:useLocalDpi xmlns:a14="http://schemas.microsoft.com/office/drawing/2010/main" val="0"/>
              </a:ext>
            </a:extLst>
          </a:blip>
          <a:srcRect/>
          <a:stretch>
            <a:fillRect l="-15000" r="-15000"/>
          </a:stretch>
        </a:blipFill>
      </dgm:spPr>
    </dgm:pt>
    <dgm:pt modelId="{33B06ED4-F9F6-4137-AD5C-A34B8D3B9FC1}" type="pres">
      <dgm:prSet presAssocID="{5CA642A0-A9BF-4B02-833F-7FCA0C9B2AE6}" presName="textRect" presStyleLbl="revTx" presStyleIdx="5" presStyleCnt="6">
        <dgm:presLayoutVars>
          <dgm:bulletEnabled val="1"/>
        </dgm:presLayoutVars>
      </dgm:prSet>
      <dgm:spPr/>
      <dgm:t>
        <a:bodyPr/>
        <a:lstStyle/>
        <a:p>
          <a:endParaRPr lang="en-US"/>
        </a:p>
      </dgm:t>
    </dgm:pt>
  </dgm:ptLst>
  <dgm:cxnLst>
    <dgm:cxn modelId="{C53F694A-6B91-4843-A4C9-F1C21C2C7CAB}" srcId="{5566A211-2E8C-458A-8E5F-19D6930D5643}" destId="{D63B6D08-54FE-4F4F-8A30-2268B1C5D00D}" srcOrd="3" destOrd="0" parTransId="{3BC14E30-6B3A-48D0-9391-BF918BC01938}" sibTransId="{2CC98A00-C83F-48A8-9109-54F9710B7D7B}"/>
    <dgm:cxn modelId="{7F94B030-C629-438A-ACC3-BB6FF9FC1292}" type="presOf" srcId="{2CC98A00-C83F-48A8-9109-54F9710B7D7B}" destId="{C47DAB72-D6FC-43A9-AEA8-A35B2125C1FE}" srcOrd="0" destOrd="0" presId="urn:microsoft.com/office/officeart/2005/8/layout/pList1"/>
    <dgm:cxn modelId="{4BA1D7AF-54C9-4F9A-9226-1D0C9503DA25}" type="presOf" srcId="{72F407BD-AE26-41BC-92A7-16D09FEDE61F}" destId="{79756867-81F7-4EB2-8012-CA782E7BE312}" srcOrd="0" destOrd="0" presId="urn:microsoft.com/office/officeart/2005/8/layout/pList1"/>
    <dgm:cxn modelId="{F4CF3FDE-83DF-4046-A80E-7131337F0257}" type="presOf" srcId="{D63B6D08-54FE-4F4F-8A30-2268B1C5D00D}" destId="{028765CC-1C67-4404-B3E9-AE4DE79C2F41}" srcOrd="0" destOrd="0" presId="urn:microsoft.com/office/officeart/2005/8/layout/pList1"/>
    <dgm:cxn modelId="{F961B37B-044F-4ADA-B3A8-2296C1FE75D0}" srcId="{5566A211-2E8C-458A-8E5F-19D6930D5643}" destId="{FA347820-F107-4E17-BAFC-A89EE38A363C}" srcOrd="4" destOrd="0" parTransId="{F345C186-150A-4C65-87D7-11E64F9ECF6F}" sibTransId="{D70D9E34-C9D6-4336-95E6-0B8F9E0AC873}"/>
    <dgm:cxn modelId="{DCC9D3BF-87D8-4BC1-B9B1-F30E1B8E9611}" type="presOf" srcId="{5CA642A0-A9BF-4B02-833F-7FCA0C9B2AE6}" destId="{33B06ED4-F9F6-4137-AD5C-A34B8D3B9FC1}" srcOrd="0" destOrd="0" presId="urn:microsoft.com/office/officeart/2005/8/layout/pList1"/>
    <dgm:cxn modelId="{D6739871-1952-408C-B315-A689B259D2A1}" srcId="{5566A211-2E8C-458A-8E5F-19D6930D5643}" destId="{B323DB03-8698-434A-9F60-549C61A57D3A}" srcOrd="0" destOrd="0" parTransId="{C6B4D6FB-D482-4CE0-A850-790AAC2B7BB4}" sibTransId="{91E0413D-862F-4DFC-89E8-0D5E1EE38D9E}"/>
    <dgm:cxn modelId="{58D2C498-EB26-4380-ACA8-C752508487F8}" srcId="{5566A211-2E8C-458A-8E5F-19D6930D5643}" destId="{DE35F349-8CA8-4828-B111-3FCC5D5D7CAC}" srcOrd="1" destOrd="0" parTransId="{551C748C-A2D4-42BE-A5AF-D352EEBC9CBF}" sibTransId="{F95B2D6D-C78B-4F28-A2BA-21DC2A0F7D52}"/>
    <dgm:cxn modelId="{935D2E3D-8115-4A60-8FAD-EF191D512882}" type="presOf" srcId="{D91D8623-BD70-4D57-B3FB-6AB489E1809F}" destId="{2F8692C6-B542-43A4-A5BE-EB887103D1F4}" srcOrd="0" destOrd="0" presId="urn:microsoft.com/office/officeart/2005/8/layout/pList1"/>
    <dgm:cxn modelId="{A25EB492-526D-41FC-B30F-3436F55A39A6}" type="presOf" srcId="{F95B2D6D-C78B-4F28-A2BA-21DC2A0F7D52}" destId="{9E5E7E5D-9C7A-43A3-B4C0-964858D41235}" srcOrd="0" destOrd="0" presId="urn:microsoft.com/office/officeart/2005/8/layout/pList1"/>
    <dgm:cxn modelId="{C77D60C3-5762-431D-AE83-1D87B9AB1130}" srcId="{5566A211-2E8C-458A-8E5F-19D6930D5643}" destId="{D91D8623-BD70-4D57-B3FB-6AB489E1809F}" srcOrd="2" destOrd="0" parTransId="{3E0B3007-BA71-4A6C-AF06-56989BFA995C}" sibTransId="{72F407BD-AE26-41BC-92A7-16D09FEDE61F}"/>
    <dgm:cxn modelId="{EA9BF183-76D8-41F8-8783-F23D9211F41C}" type="presOf" srcId="{FA347820-F107-4E17-BAFC-A89EE38A363C}" destId="{35383B0A-EEA3-4555-866E-C3B6624ECB3B}" srcOrd="0" destOrd="0" presId="urn:microsoft.com/office/officeart/2005/8/layout/pList1"/>
    <dgm:cxn modelId="{A5D1E16A-1D1F-47F6-98C4-B6B0AC0908A4}" type="presOf" srcId="{B323DB03-8698-434A-9F60-549C61A57D3A}" destId="{7CF9BAD6-E59A-4418-A654-DBD1DCA92464}" srcOrd="0" destOrd="0" presId="urn:microsoft.com/office/officeart/2005/8/layout/pList1"/>
    <dgm:cxn modelId="{80C68FA5-1072-446B-8119-BB2183C498B6}" type="presOf" srcId="{91E0413D-862F-4DFC-89E8-0D5E1EE38D9E}" destId="{C785E3FC-5B60-4570-8681-31ED7A8DA00B}" srcOrd="0" destOrd="0" presId="urn:microsoft.com/office/officeart/2005/8/layout/pList1"/>
    <dgm:cxn modelId="{17A0E3CC-B337-4970-85B5-12567E696AD5}" type="presOf" srcId="{DE35F349-8CA8-4828-B111-3FCC5D5D7CAC}" destId="{914AB3E7-D664-4268-926F-AC1D30EBD0DC}" srcOrd="0" destOrd="0" presId="urn:microsoft.com/office/officeart/2005/8/layout/pList1"/>
    <dgm:cxn modelId="{046B05FE-311F-4255-9DDB-3AC42F20E724}" type="presOf" srcId="{5566A211-2E8C-458A-8E5F-19D6930D5643}" destId="{27E0BB10-88B1-450D-A319-39C1A86C79A5}" srcOrd="0" destOrd="0" presId="urn:microsoft.com/office/officeart/2005/8/layout/pList1"/>
    <dgm:cxn modelId="{FB8F79AA-13B9-4663-9DDB-DA85BFB6E956}" srcId="{5566A211-2E8C-458A-8E5F-19D6930D5643}" destId="{5CA642A0-A9BF-4B02-833F-7FCA0C9B2AE6}" srcOrd="5" destOrd="0" parTransId="{088B2B93-4FED-42F3-831E-34AEB9193F1B}" sibTransId="{ED053A82-EE34-463A-B7DD-96F81BD38841}"/>
    <dgm:cxn modelId="{1340D8F1-5E79-405E-9C8F-0D1CD78F3EC4}" type="presOf" srcId="{D70D9E34-C9D6-4336-95E6-0B8F9E0AC873}" destId="{58CAB2F4-2F16-43F6-A666-58F65FF0BF30}" srcOrd="0" destOrd="0" presId="urn:microsoft.com/office/officeart/2005/8/layout/pList1"/>
    <dgm:cxn modelId="{CF619D29-5337-4129-851C-4B6E2C9D4DC3}" type="presParOf" srcId="{27E0BB10-88B1-450D-A319-39C1A86C79A5}" destId="{EA9A5E8C-2895-4085-A1FA-3342E52628B6}" srcOrd="0" destOrd="0" presId="urn:microsoft.com/office/officeart/2005/8/layout/pList1"/>
    <dgm:cxn modelId="{D1584567-BFF9-4A07-AB6A-01646E2100DA}" type="presParOf" srcId="{EA9A5E8C-2895-4085-A1FA-3342E52628B6}" destId="{22029C4A-D9C1-4765-8EB6-0D189F83B4B6}" srcOrd="0" destOrd="0" presId="urn:microsoft.com/office/officeart/2005/8/layout/pList1"/>
    <dgm:cxn modelId="{F3A55960-7AA2-4E08-924E-9B7CC3480E6D}" type="presParOf" srcId="{EA9A5E8C-2895-4085-A1FA-3342E52628B6}" destId="{7CF9BAD6-E59A-4418-A654-DBD1DCA92464}" srcOrd="1" destOrd="0" presId="urn:microsoft.com/office/officeart/2005/8/layout/pList1"/>
    <dgm:cxn modelId="{EEF3B488-962A-41F8-9CAA-AA42D5D68385}" type="presParOf" srcId="{27E0BB10-88B1-450D-A319-39C1A86C79A5}" destId="{C785E3FC-5B60-4570-8681-31ED7A8DA00B}" srcOrd="1" destOrd="0" presId="urn:microsoft.com/office/officeart/2005/8/layout/pList1"/>
    <dgm:cxn modelId="{B85383B3-7223-4ADC-A7F8-95990F9399F2}" type="presParOf" srcId="{27E0BB10-88B1-450D-A319-39C1A86C79A5}" destId="{2EE50470-155E-4476-B362-3D965D002472}" srcOrd="2" destOrd="0" presId="urn:microsoft.com/office/officeart/2005/8/layout/pList1"/>
    <dgm:cxn modelId="{2328942D-6BB8-4885-8208-77CBE3481598}" type="presParOf" srcId="{2EE50470-155E-4476-B362-3D965D002472}" destId="{06E95453-B007-4090-AF3D-2A53C61EDD2A}" srcOrd="0" destOrd="0" presId="urn:microsoft.com/office/officeart/2005/8/layout/pList1"/>
    <dgm:cxn modelId="{D16804A7-F34E-4933-8A5E-7E6586AB2A47}" type="presParOf" srcId="{2EE50470-155E-4476-B362-3D965D002472}" destId="{914AB3E7-D664-4268-926F-AC1D30EBD0DC}" srcOrd="1" destOrd="0" presId="urn:microsoft.com/office/officeart/2005/8/layout/pList1"/>
    <dgm:cxn modelId="{F27B2122-C24B-4A1B-817E-46AB02EBDF5E}" type="presParOf" srcId="{27E0BB10-88B1-450D-A319-39C1A86C79A5}" destId="{9E5E7E5D-9C7A-43A3-B4C0-964858D41235}" srcOrd="3" destOrd="0" presId="urn:microsoft.com/office/officeart/2005/8/layout/pList1"/>
    <dgm:cxn modelId="{EA639EAC-6525-4AB6-9106-84AE24AB6854}" type="presParOf" srcId="{27E0BB10-88B1-450D-A319-39C1A86C79A5}" destId="{E815484D-108E-4459-82E8-806C5241BB5E}" srcOrd="4" destOrd="0" presId="urn:microsoft.com/office/officeart/2005/8/layout/pList1"/>
    <dgm:cxn modelId="{E46EBDCA-4589-46E6-B68A-0C081023AC15}" type="presParOf" srcId="{E815484D-108E-4459-82E8-806C5241BB5E}" destId="{10660646-E5A4-4CFC-B382-17E13F0FED61}" srcOrd="0" destOrd="0" presId="urn:microsoft.com/office/officeart/2005/8/layout/pList1"/>
    <dgm:cxn modelId="{4DE3426B-2406-4028-B55F-22B9FB34FF84}" type="presParOf" srcId="{E815484D-108E-4459-82E8-806C5241BB5E}" destId="{2F8692C6-B542-43A4-A5BE-EB887103D1F4}" srcOrd="1" destOrd="0" presId="urn:microsoft.com/office/officeart/2005/8/layout/pList1"/>
    <dgm:cxn modelId="{9E85E456-9361-49BA-AE5F-A360D4BE0AB8}" type="presParOf" srcId="{27E0BB10-88B1-450D-A319-39C1A86C79A5}" destId="{79756867-81F7-4EB2-8012-CA782E7BE312}" srcOrd="5" destOrd="0" presId="urn:microsoft.com/office/officeart/2005/8/layout/pList1"/>
    <dgm:cxn modelId="{C509B6F7-A4C3-42DE-9ECE-C92164735DFE}" type="presParOf" srcId="{27E0BB10-88B1-450D-A319-39C1A86C79A5}" destId="{B18478CE-9FF7-4475-822D-5CDE7A6E93F2}" srcOrd="6" destOrd="0" presId="urn:microsoft.com/office/officeart/2005/8/layout/pList1"/>
    <dgm:cxn modelId="{849BCC58-E6F9-4E6E-8CE2-D505D0AC6B83}" type="presParOf" srcId="{B18478CE-9FF7-4475-822D-5CDE7A6E93F2}" destId="{D1083B71-927B-4533-9719-FB98EE7208CD}" srcOrd="0" destOrd="0" presId="urn:microsoft.com/office/officeart/2005/8/layout/pList1"/>
    <dgm:cxn modelId="{DF3EAF3B-3237-4392-903D-5BF846791C58}" type="presParOf" srcId="{B18478CE-9FF7-4475-822D-5CDE7A6E93F2}" destId="{028765CC-1C67-4404-B3E9-AE4DE79C2F41}" srcOrd="1" destOrd="0" presId="urn:microsoft.com/office/officeart/2005/8/layout/pList1"/>
    <dgm:cxn modelId="{E7B8C86A-9C61-4D1B-9EAC-C59DE1357CB8}" type="presParOf" srcId="{27E0BB10-88B1-450D-A319-39C1A86C79A5}" destId="{C47DAB72-D6FC-43A9-AEA8-A35B2125C1FE}" srcOrd="7" destOrd="0" presId="urn:microsoft.com/office/officeart/2005/8/layout/pList1"/>
    <dgm:cxn modelId="{44705659-69C7-456C-98D9-63C732F0EAD8}" type="presParOf" srcId="{27E0BB10-88B1-450D-A319-39C1A86C79A5}" destId="{0D9CF075-3C42-43B4-B766-711523824E64}" srcOrd="8" destOrd="0" presId="urn:microsoft.com/office/officeart/2005/8/layout/pList1"/>
    <dgm:cxn modelId="{49CF3718-4DBB-4997-92FB-65B481E49590}" type="presParOf" srcId="{0D9CF075-3C42-43B4-B766-711523824E64}" destId="{B12E33D5-A1DF-410B-841A-BE3B5BD87087}" srcOrd="0" destOrd="0" presId="urn:microsoft.com/office/officeart/2005/8/layout/pList1"/>
    <dgm:cxn modelId="{8BBAF50F-2CA4-4120-9349-BA8D9B4D5527}" type="presParOf" srcId="{0D9CF075-3C42-43B4-B766-711523824E64}" destId="{35383B0A-EEA3-4555-866E-C3B6624ECB3B}" srcOrd="1" destOrd="0" presId="urn:microsoft.com/office/officeart/2005/8/layout/pList1"/>
    <dgm:cxn modelId="{687C6841-DD3A-4727-A760-083368816489}" type="presParOf" srcId="{27E0BB10-88B1-450D-A319-39C1A86C79A5}" destId="{58CAB2F4-2F16-43F6-A666-58F65FF0BF30}" srcOrd="9" destOrd="0" presId="urn:microsoft.com/office/officeart/2005/8/layout/pList1"/>
    <dgm:cxn modelId="{AF2B631B-AB4E-4248-BB49-C9638A35DF23}" type="presParOf" srcId="{27E0BB10-88B1-450D-A319-39C1A86C79A5}" destId="{AE746904-CF22-4D96-95F7-BF8C2A91370D}" srcOrd="10" destOrd="0" presId="urn:microsoft.com/office/officeart/2005/8/layout/pList1"/>
    <dgm:cxn modelId="{A71F6871-AD34-42E3-91B8-0792C7EFF851}" type="presParOf" srcId="{AE746904-CF22-4D96-95F7-BF8C2A91370D}" destId="{74BE6E92-BC59-4B2D-B60D-D5EE9ECFB372}" srcOrd="0" destOrd="0" presId="urn:microsoft.com/office/officeart/2005/8/layout/pList1"/>
    <dgm:cxn modelId="{013E4929-A2F4-46FE-BA84-0A4242088288}" type="presParOf" srcId="{AE746904-CF22-4D96-95F7-BF8C2A91370D}" destId="{33B06ED4-F9F6-4137-AD5C-A34B8D3B9FC1}" srcOrd="1" destOrd="0" presId="urn:microsoft.com/office/officeart/2005/8/layout/p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E01C48-46A7-4575-A536-2409426044E9}" type="doc">
      <dgm:prSet loTypeId="urn:microsoft.com/office/officeart/2008/layout/PictureGrid" loCatId="picture" qsTypeId="urn:microsoft.com/office/officeart/2005/8/quickstyle/simple1" qsCatId="simple" csTypeId="urn:microsoft.com/office/officeart/2005/8/colors/accent1_2" csCatId="accent1" phldr="1"/>
      <dgm:spPr/>
      <dgm:t>
        <a:bodyPr/>
        <a:lstStyle/>
        <a:p>
          <a:endParaRPr lang="en-US"/>
        </a:p>
      </dgm:t>
    </dgm:pt>
    <dgm:pt modelId="{5AE39706-22B1-4EB8-A205-DF9985F90451}">
      <dgm:prSet phldrT="[Text]"/>
      <dgm:spPr/>
      <dgm:t>
        <a:bodyPr/>
        <a:lstStyle/>
        <a:p>
          <a:r>
            <a:rPr lang="en-US" dirty="0" smtClean="0">
              <a:solidFill>
                <a:srgbClr val="7030A0"/>
              </a:solidFill>
            </a:rPr>
            <a:t>SUMMARY OF PDF UPLOADED </a:t>
          </a:r>
          <a:endParaRPr lang="en-US" dirty="0">
            <a:solidFill>
              <a:srgbClr val="7030A0"/>
            </a:solidFill>
          </a:endParaRPr>
        </a:p>
      </dgm:t>
    </dgm:pt>
    <dgm:pt modelId="{3445EDD1-2278-47AD-9BCB-990B6868ED6E}" type="parTrans" cxnId="{C5E8AF08-E5BE-41E2-83C9-9952BB404394}">
      <dgm:prSet/>
      <dgm:spPr/>
      <dgm:t>
        <a:bodyPr/>
        <a:lstStyle/>
        <a:p>
          <a:endParaRPr lang="en-US"/>
        </a:p>
      </dgm:t>
    </dgm:pt>
    <dgm:pt modelId="{A8C59ADF-F6EA-450F-8C47-B5A733CA4222}" type="sibTrans" cxnId="{C5E8AF08-E5BE-41E2-83C9-9952BB404394}">
      <dgm:prSet/>
      <dgm:spPr/>
      <dgm:t>
        <a:bodyPr/>
        <a:lstStyle/>
        <a:p>
          <a:endParaRPr lang="en-US"/>
        </a:p>
      </dgm:t>
    </dgm:pt>
    <dgm:pt modelId="{6560CA3E-0AB2-4E0F-A8A5-5A965419A59C}">
      <dgm:prSet phldrT="[Text]"/>
      <dgm:spPr/>
      <dgm:t>
        <a:bodyPr/>
        <a:lstStyle/>
        <a:p>
          <a:r>
            <a:rPr lang="en-US" dirty="0" smtClean="0">
              <a:solidFill>
                <a:srgbClr val="7030A0"/>
              </a:solidFill>
            </a:rPr>
            <a:t>FLASHCARDS GENERATED </a:t>
          </a:r>
          <a:endParaRPr lang="en-US" dirty="0">
            <a:solidFill>
              <a:srgbClr val="7030A0"/>
            </a:solidFill>
          </a:endParaRPr>
        </a:p>
      </dgm:t>
    </dgm:pt>
    <dgm:pt modelId="{8DFAAFB4-DC61-410F-A9DD-6107E45FFEEB}" type="parTrans" cxnId="{17EBB9B5-1DB8-4CE5-B9F8-3B3A21B3D809}">
      <dgm:prSet/>
      <dgm:spPr/>
      <dgm:t>
        <a:bodyPr/>
        <a:lstStyle/>
        <a:p>
          <a:endParaRPr lang="en-US"/>
        </a:p>
      </dgm:t>
    </dgm:pt>
    <dgm:pt modelId="{EA5599CF-0A4E-462E-BEA2-2CB9ECAD177D}" type="sibTrans" cxnId="{17EBB9B5-1DB8-4CE5-B9F8-3B3A21B3D809}">
      <dgm:prSet/>
      <dgm:spPr/>
      <dgm:t>
        <a:bodyPr/>
        <a:lstStyle/>
        <a:p>
          <a:endParaRPr lang="en-US"/>
        </a:p>
      </dgm:t>
    </dgm:pt>
    <dgm:pt modelId="{818C712D-30AD-4D52-9C0E-F56E3ED54950}">
      <dgm:prSet phldrT="[Text]"/>
      <dgm:spPr/>
      <dgm:t>
        <a:bodyPr/>
        <a:lstStyle/>
        <a:p>
          <a:r>
            <a:rPr lang="en-US" b="1" dirty="0" smtClean="0">
              <a:solidFill>
                <a:srgbClr val="7030A0"/>
              </a:solidFill>
            </a:rPr>
            <a:t>QUIZ QUESTIONS </a:t>
          </a:r>
        </a:p>
      </dgm:t>
    </dgm:pt>
    <dgm:pt modelId="{969CAA59-27FF-47DD-B831-41117ED712A6}" type="parTrans" cxnId="{4EE5D033-1B56-4821-8B4D-57BE6D33C874}">
      <dgm:prSet/>
      <dgm:spPr/>
      <dgm:t>
        <a:bodyPr/>
        <a:lstStyle/>
        <a:p>
          <a:endParaRPr lang="en-US"/>
        </a:p>
      </dgm:t>
    </dgm:pt>
    <dgm:pt modelId="{BCD5FA1C-D840-47A3-8809-EE87FCB25D3A}" type="sibTrans" cxnId="{4EE5D033-1B56-4821-8B4D-57BE6D33C874}">
      <dgm:prSet/>
      <dgm:spPr/>
      <dgm:t>
        <a:bodyPr/>
        <a:lstStyle/>
        <a:p>
          <a:endParaRPr lang="en-US"/>
        </a:p>
      </dgm:t>
    </dgm:pt>
    <dgm:pt modelId="{1B3F24B2-DA4F-47EA-8903-8F6A21BDEB2A}">
      <dgm:prSet phldrT="[Text]"/>
      <dgm:spPr/>
      <dgm:t>
        <a:bodyPr/>
        <a:lstStyle/>
        <a:p>
          <a:r>
            <a:rPr lang="en-US" b="1" dirty="0" smtClean="0">
              <a:solidFill>
                <a:srgbClr val="7030A0"/>
              </a:solidFill>
            </a:rPr>
            <a:t>STUDYPLAN CREATED BY SCHOLAR AI</a:t>
          </a:r>
          <a:endParaRPr lang="en-US" b="1" dirty="0">
            <a:solidFill>
              <a:srgbClr val="7030A0"/>
            </a:solidFill>
          </a:endParaRPr>
        </a:p>
      </dgm:t>
    </dgm:pt>
    <dgm:pt modelId="{657EE517-8340-41B3-8150-269852FDA019}" type="parTrans" cxnId="{4FB179B2-9BCB-4F0B-B905-DE0061583C8D}">
      <dgm:prSet/>
      <dgm:spPr/>
      <dgm:t>
        <a:bodyPr/>
        <a:lstStyle/>
        <a:p>
          <a:endParaRPr lang="en-US"/>
        </a:p>
      </dgm:t>
    </dgm:pt>
    <dgm:pt modelId="{C12B04D0-526B-4957-805F-693B724E310C}" type="sibTrans" cxnId="{4FB179B2-9BCB-4F0B-B905-DE0061583C8D}">
      <dgm:prSet/>
      <dgm:spPr/>
      <dgm:t>
        <a:bodyPr/>
        <a:lstStyle/>
        <a:p>
          <a:endParaRPr lang="en-US"/>
        </a:p>
      </dgm:t>
    </dgm:pt>
    <dgm:pt modelId="{0898685D-AF4B-49AE-912B-F14D051EDF88}" type="pres">
      <dgm:prSet presAssocID="{00E01C48-46A7-4575-A536-2409426044E9}" presName="Name0" presStyleCnt="0">
        <dgm:presLayoutVars>
          <dgm:dir/>
        </dgm:presLayoutVars>
      </dgm:prSet>
      <dgm:spPr/>
      <dgm:t>
        <a:bodyPr/>
        <a:lstStyle/>
        <a:p>
          <a:endParaRPr lang="en-US"/>
        </a:p>
      </dgm:t>
    </dgm:pt>
    <dgm:pt modelId="{5F059276-2433-45EC-8FBC-491DF97CF78D}" type="pres">
      <dgm:prSet presAssocID="{5AE39706-22B1-4EB8-A205-DF9985F90451}" presName="composite" presStyleCnt="0"/>
      <dgm:spPr/>
    </dgm:pt>
    <dgm:pt modelId="{7AFF3DD2-82E4-4079-8105-C46E8B7AEB3F}" type="pres">
      <dgm:prSet presAssocID="{5AE39706-22B1-4EB8-A205-DF9985F90451}" presName="rect2" presStyleLbl="revTx" presStyleIdx="0" presStyleCnt="4">
        <dgm:presLayoutVars>
          <dgm:bulletEnabled val="1"/>
        </dgm:presLayoutVars>
      </dgm:prSet>
      <dgm:spPr/>
      <dgm:t>
        <a:bodyPr/>
        <a:lstStyle/>
        <a:p>
          <a:endParaRPr lang="en-US"/>
        </a:p>
      </dgm:t>
    </dgm:pt>
    <dgm:pt modelId="{01D30947-CF0A-4595-9955-F7BF20BC0F25}" type="pres">
      <dgm:prSet presAssocID="{5AE39706-22B1-4EB8-A205-DF9985F90451}" presName="rect1" presStyleLbl="alignImgPlace1" presStyleIdx="0" presStyleCnt="4" custScaleX="169365" custScaleY="100373" custLinFactNeighborX="-9347" custLinFactNeighborY="-1958"/>
      <dgm:spPr>
        <a:blipFill>
          <a:blip xmlns:r="http://schemas.openxmlformats.org/officeDocument/2006/relationships" r:embed="rId1">
            <a:extLst>
              <a:ext uri="{28A0092B-C50C-407E-A947-70E740481C1C}">
                <a14:useLocalDpi xmlns:a14="http://schemas.microsoft.com/office/drawing/2010/main" val="0"/>
              </a:ext>
            </a:extLst>
          </a:blip>
          <a:srcRect/>
          <a:stretch>
            <a:fillRect l="-44000" r="-44000"/>
          </a:stretch>
        </a:blipFill>
      </dgm:spPr>
    </dgm:pt>
    <dgm:pt modelId="{36ABE6BA-F97D-4A38-AC05-DBF685BD9876}" type="pres">
      <dgm:prSet presAssocID="{A8C59ADF-F6EA-450F-8C47-B5A733CA4222}" presName="sibTrans" presStyleCnt="0"/>
      <dgm:spPr/>
    </dgm:pt>
    <dgm:pt modelId="{1D5147B8-4100-46AF-A269-C2D4438E5B2C}" type="pres">
      <dgm:prSet presAssocID="{6560CA3E-0AB2-4E0F-A8A5-5A965419A59C}" presName="composite" presStyleCnt="0"/>
      <dgm:spPr/>
    </dgm:pt>
    <dgm:pt modelId="{E43AD708-6C60-4BC7-AF14-EF8353137E31}" type="pres">
      <dgm:prSet presAssocID="{6560CA3E-0AB2-4E0F-A8A5-5A965419A59C}" presName="rect2" presStyleLbl="revTx" presStyleIdx="1" presStyleCnt="4">
        <dgm:presLayoutVars>
          <dgm:bulletEnabled val="1"/>
        </dgm:presLayoutVars>
      </dgm:prSet>
      <dgm:spPr/>
      <dgm:t>
        <a:bodyPr/>
        <a:lstStyle/>
        <a:p>
          <a:endParaRPr lang="en-US"/>
        </a:p>
      </dgm:t>
    </dgm:pt>
    <dgm:pt modelId="{A52BD51D-7A6A-4D86-8E25-87A267747BE8}" type="pres">
      <dgm:prSet presAssocID="{6560CA3E-0AB2-4E0F-A8A5-5A965419A59C}" presName="rect1" presStyleLbl="alignImgPlace1" presStyleIdx="1" presStyleCnt="4" custScaleX="145692"/>
      <dgm:spPr>
        <a:blipFill>
          <a:blip xmlns:r="http://schemas.openxmlformats.org/officeDocument/2006/relationships" r:embed="rId2">
            <a:extLst>
              <a:ext uri="{28A0092B-C50C-407E-A947-70E740481C1C}">
                <a14:useLocalDpi xmlns:a14="http://schemas.microsoft.com/office/drawing/2010/main" val="0"/>
              </a:ext>
            </a:extLst>
          </a:blip>
          <a:srcRect/>
          <a:stretch>
            <a:fillRect l="-44000" r="-44000"/>
          </a:stretch>
        </a:blipFill>
      </dgm:spPr>
    </dgm:pt>
    <dgm:pt modelId="{B008BB1A-C1F3-4E12-8430-A769D8388A75}" type="pres">
      <dgm:prSet presAssocID="{EA5599CF-0A4E-462E-BEA2-2CB9ECAD177D}" presName="sibTrans" presStyleCnt="0"/>
      <dgm:spPr/>
    </dgm:pt>
    <dgm:pt modelId="{E1DF486E-8E02-45B2-8714-6F05E2C96E53}" type="pres">
      <dgm:prSet presAssocID="{818C712D-30AD-4D52-9C0E-F56E3ED54950}" presName="composite" presStyleCnt="0"/>
      <dgm:spPr/>
    </dgm:pt>
    <dgm:pt modelId="{DC167F69-31EE-4B10-9B48-C2AA91DEF942}" type="pres">
      <dgm:prSet presAssocID="{818C712D-30AD-4D52-9C0E-F56E3ED54950}" presName="rect2" presStyleLbl="revTx" presStyleIdx="2" presStyleCnt="4">
        <dgm:presLayoutVars>
          <dgm:bulletEnabled val="1"/>
        </dgm:presLayoutVars>
      </dgm:prSet>
      <dgm:spPr/>
      <dgm:t>
        <a:bodyPr/>
        <a:lstStyle/>
        <a:p>
          <a:endParaRPr lang="en-US"/>
        </a:p>
      </dgm:t>
    </dgm:pt>
    <dgm:pt modelId="{D23D8810-ED1F-4319-B468-262DDDA3C03F}" type="pres">
      <dgm:prSet presAssocID="{818C712D-30AD-4D52-9C0E-F56E3ED54950}" presName="rect1" presStyleLbl="alignImgPlace1" presStyleIdx="2" presStyleCnt="4" custScaleX="162990" custScaleY="95014" custLinFactNeighborX="-5959" custLinFactNeighborY="-3314"/>
      <dgm:spPr>
        <a:blipFill>
          <a:blip xmlns:r="http://schemas.openxmlformats.org/officeDocument/2006/relationships" r:embed="rId3">
            <a:extLst>
              <a:ext uri="{28A0092B-C50C-407E-A947-70E740481C1C}">
                <a14:useLocalDpi xmlns:a14="http://schemas.microsoft.com/office/drawing/2010/main" val="0"/>
              </a:ext>
            </a:extLst>
          </a:blip>
          <a:srcRect/>
          <a:stretch>
            <a:fillRect l="-44000" r="-44000"/>
          </a:stretch>
        </a:blipFill>
      </dgm:spPr>
    </dgm:pt>
    <dgm:pt modelId="{A76735FD-27E0-43FF-87E4-2FA1E0EBD4F1}" type="pres">
      <dgm:prSet presAssocID="{BCD5FA1C-D840-47A3-8809-EE87FCB25D3A}" presName="sibTrans" presStyleCnt="0"/>
      <dgm:spPr/>
    </dgm:pt>
    <dgm:pt modelId="{CDD8D244-2F13-470C-89E9-08CD01D896BE}" type="pres">
      <dgm:prSet presAssocID="{1B3F24B2-DA4F-47EA-8903-8F6A21BDEB2A}" presName="composite" presStyleCnt="0"/>
      <dgm:spPr/>
    </dgm:pt>
    <dgm:pt modelId="{C633093F-5445-44B7-91BD-B731D90DE72C}" type="pres">
      <dgm:prSet presAssocID="{1B3F24B2-DA4F-47EA-8903-8F6A21BDEB2A}" presName="rect2" presStyleLbl="revTx" presStyleIdx="3" presStyleCnt="4">
        <dgm:presLayoutVars>
          <dgm:bulletEnabled val="1"/>
        </dgm:presLayoutVars>
      </dgm:prSet>
      <dgm:spPr/>
      <dgm:t>
        <a:bodyPr/>
        <a:lstStyle/>
        <a:p>
          <a:endParaRPr lang="en-US"/>
        </a:p>
      </dgm:t>
    </dgm:pt>
    <dgm:pt modelId="{692A66B1-BD32-4F72-9111-0BA180516BEB}" type="pres">
      <dgm:prSet presAssocID="{1B3F24B2-DA4F-47EA-8903-8F6A21BDEB2A}" presName="rect1" presStyleLbl="alignImgPlace1" presStyleIdx="3" presStyleCnt="4" custScaleX="159132" custScaleY="88157" custLinFactNeighborX="-463" custLinFactNeighborY="-3890"/>
      <dgm:spPr>
        <a:blipFill>
          <a:blip xmlns:r="http://schemas.openxmlformats.org/officeDocument/2006/relationships" r:embed="rId4">
            <a:extLst>
              <a:ext uri="{28A0092B-C50C-407E-A947-70E740481C1C}">
                <a14:useLocalDpi xmlns:a14="http://schemas.microsoft.com/office/drawing/2010/main" val="0"/>
              </a:ext>
            </a:extLst>
          </a:blip>
          <a:srcRect/>
          <a:stretch>
            <a:fillRect l="-44000" r="-44000"/>
          </a:stretch>
        </a:blipFill>
      </dgm:spPr>
    </dgm:pt>
  </dgm:ptLst>
  <dgm:cxnLst>
    <dgm:cxn modelId="{91710DB1-5BAC-405E-B660-322E75145DBF}" type="presOf" srcId="{818C712D-30AD-4D52-9C0E-F56E3ED54950}" destId="{DC167F69-31EE-4B10-9B48-C2AA91DEF942}" srcOrd="0" destOrd="0" presId="urn:microsoft.com/office/officeart/2008/layout/PictureGrid"/>
    <dgm:cxn modelId="{E7FCA15E-36C8-4B7E-8E19-E1B2DC615490}" type="presOf" srcId="{1B3F24B2-DA4F-47EA-8903-8F6A21BDEB2A}" destId="{C633093F-5445-44B7-91BD-B731D90DE72C}" srcOrd="0" destOrd="0" presId="urn:microsoft.com/office/officeart/2008/layout/PictureGrid"/>
    <dgm:cxn modelId="{17EBB9B5-1DB8-4CE5-B9F8-3B3A21B3D809}" srcId="{00E01C48-46A7-4575-A536-2409426044E9}" destId="{6560CA3E-0AB2-4E0F-A8A5-5A965419A59C}" srcOrd="1" destOrd="0" parTransId="{8DFAAFB4-DC61-410F-A9DD-6107E45FFEEB}" sibTransId="{EA5599CF-0A4E-462E-BEA2-2CB9ECAD177D}"/>
    <dgm:cxn modelId="{4FB179B2-9BCB-4F0B-B905-DE0061583C8D}" srcId="{00E01C48-46A7-4575-A536-2409426044E9}" destId="{1B3F24B2-DA4F-47EA-8903-8F6A21BDEB2A}" srcOrd="3" destOrd="0" parTransId="{657EE517-8340-41B3-8150-269852FDA019}" sibTransId="{C12B04D0-526B-4957-805F-693B724E310C}"/>
    <dgm:cxn modelId="{4EE5D033-1B56-4821-8B4D-57BE6D33C874}" srcId="{00E01C48-46A7-4575-A536-2409426044E9}" destId="{818C712D-30AD-4D52-9C0E-F56E3ED54950}" srcOrd="2" destOrd="0" parTransId="{969CAA59-27FF-47DD-B831-41117ED712A6}" sibTransId="{BCD5FA1C-D840-47A3-8809-EE87FCB25D3A}"/>
    <dgm:cxn modelId="{D5D9BB44-8B48-4EB3-BD6C-9FB39866AC61}" type="presOf" srcId="{00E01C48-46A7-4575-A536-2409426044E9}" destId="{0898685D-AF4B-49AE-912B-F14D051EDF88}" srcOrd="0" destOrd="0" presId="urn:microsoft.com/office/officeart/2008/layout/PictureGrid"/>
    <dgm:cxn modelId="{F8D5E51D-E546-45E7-9974-C541EC3912ED}" type="presOf" srcId="{6560CA3E-0AB2-4E0F-A8A5-5A965419A59C}" destId="{E43AD708-6C60-4BC7-AF14-EF8353137E31}" srcOrd="0" destOrd="0" presId="urn:microsoft.com/office/officeart/2008/layout/PictureGrid"/>
    <dgm:cxn modelId="{4E687B8D-FD00-4C94-9C95-5B903BD3F33E}" type="presOf" srcId="{5AE39706-22B1-4EB8-A205-DF9985F90451}" destId="{7AFF3DD2-82E4-4079-8105-C46E8B7AEB3F}" srcOrd="0" destOrd="0" presId="urn:microsoft.com/office/officeart/2008/layout/PictureGrid"/>
    <dgm:cxn modelId="{C5E8AF08-E5BE-41E2-83C9-9952BB404394}" srcId="{00E01C48-46A7-4575-A536-2409426044E9}" destId="{5AE39706-22B1-4EB8-A205-DF9985F90451}" srcOrd="0" destOrd="0" parTransId="{3445EDD1-2278-47AD-9BCB-990B6868ED6E}" sibTransId="{A8C59ADF-F6EA-450F-8C47-B5A733CA4222}"/>
    <dgm:cxn modelId="{551E45CB-D076-4228-A746-01AA9DCB19BC}" type="presParOf" srcId="{0898685D-AF4B-49AE-912B-F14D051EDF88}" destId="{5F059276-2433-45EC-8FBC-491DF97CF78D}" srcOrd="0" destOrd="0" presId="urn:microsoft.com/office/officeart/2008/layout/PictureGrid"/>
    <dgm:cxn modelId="{DF3D4588-A287-453C-BF45-82D2FB485740}" type="presParOf" srcId="{5F059276-2433-45EC-8FBC-491DF97CF78D}" destId="{7AFF3DD2-82E4-4079-8105-C46E8B7AEB3F}" srcOrd="0" destOrd="0" presId="urn:microsoft.com/office/officeart/2008/layout/PictureGrid"/>
    <dgm:cxn modelId="{B52BE337-B45F-4770-92B6-03C9FE1C9B9E}" type="presParOf" srcId="{5F059276-2433-45EC-8FBC-491DF97CF78D}" destId="{01D30947-CF0A-4595-9955-F7BF20BC0F25}" srcOrd="1" destOrd="0" presId="urn:microsoft.com/office/officeart/2008/layout/PictureGrid"/>
    <dgm:cxn modelId="{4CF35800-C9D7-4FAC-9C69-5FCB670D8E22}" type="presParOf" srcId="{0898685D-AF4B-49AE-912B-F14D051EDF88}" destId="{36ABE6BA-F97D-4A38-AC05-DBF685BD9876}" srcOrd="1" destOrd="0" presId="urn:microsoft.com/office/officeart/2008/layout/PictureGrid"/>
    <dgm:cxn modelId="{686F3A99-2934-43BF-91EB-C194338052FC}" type="presParOf" srcId="{0898685D-AF4B-49AE-912B-F14D051EDF88}" destId="{1D5147B8-4100-46AF-A269-C2D4438E5B2C}" srcOrd="2" destOrd="0" presId="urn:microsoft.com/office/officeart/2008/layout/PictureGrid"/>
    <dgm:cxn modelId="{8DE194BA-A620-4BDA-A685-7822B40C6939}" type="presParOf" srcId="{1D5147B8-4100-46AF-A269-C2D4438E5B2C}" destId="{E43AD708-6C60-4BC7-AF14-EF8353137E31}" srcOrd="0" destOrd="0" presId="urn:microsoft.com/office/officeart/2008/layout/PictureGrid"/>
    <dgm:cxn modelId="{31F7A028-5974-48BD-A3C9-5F568E27DA16}" type="presParOf" srcId="{1D5147B8-4100-46AF-A269-C2D4438E5B2C}" destId="{A52BD51D-7A6A-4D86-8E25-87A267747BE8}" srcOrd="1" destOrd="0" presId="urn:microsoft.com/office/officeart/2008/layout/PictureGrid"/>
    <dgm:cxn modelId="{45566592-0780-4553-B3A5-931C9C1A3D24}" type="presParOf" srcId="{0898685D-AF4B-49AE-912B-F14D051EDF88}" destId="{B008BB1A-C1F3-4E12-8430-A769D8388A75}" srcOrd="3" destOrd="0" presId="urn:microsoft.com/office/officeart/2008/layout/PictureGrid"/>
    <dgm:cxn modelId="{3973B90B-F95E-4C6C-AB0C-756FB8E7BCCF}" type="presParOf" srcId="{0898685D-AF4B-49AE-912B-F14D051EDF88}" destId="{E1DF486E-8E02-45B2-8714-6F05E2C96E53}" srcOrd="4" destOrd="0" presId="urn:microsoft.com/office/officeart/2008/layout/PictureGrid"/>
    <dgm:cxn modelId="{432B2E7E-E2EE-43A0-AAE2-BD605AD120BF}" type="presParOf" srcId="{E1DF486E-8E02-45B2-8714-6F05E2C96E53}" destId="{DC167F69-31EE-4B10-9B48-C2AA91DEF942}" srcOrd="0" destOrd="0" presId="urn:microsoft.com/office/officeart/2008/layout/PictureGrid"/>
    <dgm:cxn modelId="{82E6D078-1156-47D8-8470-45D1431E95F9}" type="presParOf" srcId="{E1DF486E-8E02-45B2-8714-6F05E2C96E53}" destId="{D23D8810-ED1F-4319-B468-262DDDA3C03F}" srcOrd="1" destOrd="0" presId="urn:microsoft.com/office/officeart/2008/layout/PictureGrid"/>
    <dgm:cxn modelId="{DB6E03D3-D6D8-4276-99E6-3090C4319888}" type="presParOf" srcId="{0898685D-AF4B-49AE-912B-F14D051EDF88}" destId="{A76735FD-27E0-43FF-87E4-2FA1E0EBD4F1}" srcOrd="5" destOrd="0" presId="urn:microsoft.com/office/officeart/2008/layout/PictureGrid"/>
    <dgm:cxn modelId="{E0737EDC-BB17-4958-A90C-DE45FD0A6923}" type="presParOf" srcId="{0898685D-AF4B-49AE-912B-F14D051EDF88}" destId="{CDD8D244-2F13-470C-89E9-08CD01D896BE}" srcOrd="6" destOrd="0" presId="urn:microsoft.com/office/officeart/2008/layout/PictureGrid"/>
    <dgm:cxn modelId="{2DDD8065-7910-434D-8F96-A89177747CBE}" type="presParOf" srcId="{CDD8D244-2F13-470C-89E9-08CD01D896BE}" destId="{C633093F-5445-44B7-91BD-B731D90DE72C}" srcOrd="0" destOrd="0" presId="urn:microsoft.com/office/officeart/2008/layout/PictureGrid"/>
    <dgm:cxn modelId="{8495FE22-952C-4D35-9EC3-31A422B7C274}" type="presParOf" srcId="{CDD8D244-2F13-470C-89E9-08CD01D896BE}" destId="{692A66B1-BD32-4F72-9111-0BA180516BEB}" srcOrd="1" destOrd="0" presId="urn:microsoft.com/office/officeart/2008/layout/PictureGrid"/>
  </dgm:cxnLst>
  <dgm:bg>
    <a:effectLst>
      <a:softEdge rad="12700"/>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AAB43F-C387-46CA-9BD5-99D4E1C7839F}" type="doc">
      <dgm:prSet loTypeId="urn:microsoft.com/office/officeart/2008/layout/AlternatingPictureCircles" loCatId="picture" qsTypeId="urn:microsoft.com/office/officeart/2005/8/quickstyle/3d2" qsCatId="3D" csTypeId="urn:microsoft.com/office/officeart/2005/8/colors/accent3_4" csCatId="accent3" phldr="1"/>
      <dgm:spPr/>
    </dgm:pt>
    <dgm:pt modelId="{AE4A8B10-018F-4DC3-A359-4D1AA2B7E5BA}">
      <dgm:prSet phldrT="[Text]" custT="1"/>
      <dgm:spPr>
        <a:solidFill>
          <a:schemeClr val="tx1">
            <a:lumMod val="50000"/>
            <a:lumOff val="50000"/>
            <a:alpha val="9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z="152400">
          <a:bevelT w="190500" h="38100"/>
        </a:sp3d>
      </dgm:spPr>
      <dgm:t>
        <a:bodyPr/>
        <a:lstStyle/>
        <a:p>
          <a:r>
            <a:rPr lang="en-US" sz="2000" smtClean="0">
              <a:solidFill>
                <a:srgbClr val="7030A0"/>
              </a:solidFill>
            </a:rPr>
            <a:t>https://github.com/anushka122-raj/ScholarAI-Smart-Study-Generator-Agent</a:t>
          </a:r>
          <a:endParaRPr lang="en-US" sz="2000">
            <a:solidFill>
              <a:srgbClr val="7030A0"/>
            </a:solidFill>
          </a:endParaRPr>
        </a:p>
      </dgm:t>
    </dgm:pt>
    <dgm:pt modelId="{DC6DB061-28F6-40D6-B494-2F00EFE133E8}" type="parTrans" cxnId="{A84369F6-4657-4BC1-9325-E601851ECF5A}">
      <dgm:prSet/>
      <dgm:spPr/>
      <dgm:t>
        <a:bodyPr/>
        <a:lstStyle/>
        <a:p>
          <a:endParaRPr lang="en-US"/>
        </a:p>
      </dgm:t>
    </dgm:pt>
    <dgm:pt modelId="{8AF355F8-4EB3-4411-BDED-11AAF121CB62}" type="sibTrans" cxnId="{A84369F6-4657-4BC1-9325-E601851ECF5A}">
      <dgm:prSet/>
      <dgm:spPr/>
      <dgm:t>
        <a:bodyPr/>
        <a:lstStyle/>
        <a:p>
          <a:endParaRPr lang="en-US"/>
        </a:p>
      </dgm:t>
    </dgm:pt>
    <dgm:pt modelId="{065D2E30-A1DA-4A48-A1A4-72AF0A72FC08}" type="pres">
      <dgm:prSet presAssocID="{2DAAB43F-C387-46CA-9BD5-99D4E1C7839F}" presName="Name0" presStyleCnt="0">
        <dgm:presLayoutVars>
          <dgm:chMax/>
          <dgm:chPref/>
          <dgm:dir/>
        </dgm:presLayoutVars>
      </dgm:prSet>
      <dgm:spPr/>
    </dgm:pt>
    <dgm:pt modelId="{C5B56C2A-40EB-4479-A619-FBF9BD2A99B0}" type="pres">
      <dgm:prSet presAssocID="{AE4A8B10-018F-4DC3-A359-4D1AA2B7E5BA}" presName="composite" presStyleCnt="0"/>
      <dgm:spPr/>
    </dgm:pt>
    <dgm:pt modelId="{94A4FE1C-A75E-464C-AA14-625ACB41B3A6}" type="pres">
      <dgm:prSet presAssocID="{AE4A8B10-018F-4DC3-A359-4D1AA2B7E5BA}" presName="Accent" presStyleLbl="alignNode1" presStyleIdx="0" presStyleCnt="1" custLinFactNeighborX="7" custLinFactNeighborY="-85">
        <dgm:presLayoutVars>
          <dgm:chMax val="0"/>
          <dgm:chPref val="0"/>
        </dgm:presLayoutVars>
      </dgm:prSet>
      <dgm:spPr>
        <a:solidFill>
          <a:schemeClr val="tx1">
            <a:lumMod val="85000"/>
            <a:lumOff val="1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B5BA7886-1E66-4894-95D0-8097589C60AA}" type="pres">
      <dgm:prSet presAssocID="{AE4A8B10-018F-4DC3-A359-4D1AA2B7E5BA}" presName="Image" presStyleLbl="bgImgPlace1" presStyleIdx="0" presStyleCnt="1" custLinFactNeighborX="940" custLinFactNeighborY="-89">
        <dgm:presLayoutVars>
          <dgm:chMax val="0"/>
          <dgm:chPref val="0"/>
          <dgm:bulletEnabled val="1"/>
        </dgm:presLayoutVars>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z="-152400">
          <a:bevelT w="190500" h="38100"/>
        </a:sp3d>
      </dgm:spPr>
      <dgm:extLst>
        <a:ext uri="{E40237B7-FDA0-4F09-8148-C483321AD2D9}">
          <dgm14:cNvPr xmlns:dgm14="http://schemas.microsoft.com/office/drawing/2010/diagram" id="0" name="" descr="&lt;strong&gt;GitHub&lt;/strong&gt; und ‚Social Coding‘: Neue Formen der Softwareentwicklung und ..."/>
        </a:ext>
      </dgm:extLst>
    </dgm:pt>
    <dgm:pt modelId="{C12F1B7C-BB3C-486C-B6A9-D517B8E5741E}" type="pres">
      <dgm:prSet presAssocID="{AE4A8B10-018F-4DC3-A359-4D1AA2B7E5BA}" presName="Parent" presStyleLbl="fgAccFollowNode1" presStyleIdx="0" presStyleCnt="1" custLinFactNeighborY="-107">
        <dgm:presLayoutVars>
          <dgm:chMax val="0"/>
          <dgm:chPref val="0"/>
          <dgm:bulletEnabled val="1"/>
        </dgm:presLayoutVars>
      </dgm:prSet>
      <dgm:spPr/>
      <dgm:t>
        <a:bodyPr/>
        <a:lstStyle/>
        <a:p>
          <a:endParaRPr lang="en-US"/>
        </a:p>
      </dgm:t>
    </dgm:pt>
    <dgm:pt modelId="{FEB85332-562F-4A32-9BDF-3A186AB012CF}" type="pres">
      <dgm:prSet presAssocID="{AE4A8B10-018F-4DC3-A359-4D1AA2B7E5BA}" presName="Space" presStyleCnt="0">
        <dgm:presLayoutVars>
          <dgm:chMax val="0"/>
          <dgm:chPref val="0"/>
        </dgm:presLayoutVars>
      </dgm:prSet>
      <dgm:spPr/>
    </dgm:pt>
  </dgm:ptLst>
  <dgm:cxnLst>
    <dgm:cxn modelId="{A84369F6-4657-4BC1-9325-E601851ECF5A}" srcId="{2DAAB43F-C387-46CA-9BD5-99D4E1C7839F}" destId="{AE4A8B10-018F-4DC3-A359-4D1AA2B7E5BA}" srcOrd="0" destOrd="0" parTransId="{DC6DB061-28F6-40D6-B494-2F00EFE133E8}" sibTransId="{8AF355F8-4EB3-4411-BDED-11AAF121CB62}"/>
    <dgm:cxn modelId="{37827CA5-DF08-4E05-B413-160AEAA68E89}" type="presOf" srcId="{AE4A8B10-018F-4DC3-A359-4D1AA2B7E5BA}" destId="{C12F1B7C-BB3C-486C-B6A9-D517B8E5741E}" srcOrd="0" destOrd="0" presId="urn:microsoft.com/office/officeart/2008/layout/AlternatingPictureCircles"/>
    <dgm:cxn modelId="{263AFB88-67B1-4D14-9A6D-DACCEAA9793C}" type="presOf" srcId="{2DAAB43F-C387-46CA-9BD5-99D4E1C7839F}" destId="{065D2E30-A1DA-4A48-A1A4-72AF0A72FC08}" srcOrd="0" destOrd="0" presId="urn:microsoft.com/office/officeart/2008/layout/AlternatingPictureCircles"/>
    <dgm:cxn modelId="{ED09A2F2-EC57-4E8C-80AD-40ED8382636B}" type="presParOf" srcId="{065D2E30-A1DA-4A48-A1A4-72AF0A72FC08}" destId="{C5B56C2A-40EB-4479-A619-FBF9BD2A99B0}" srcOrd="0" destOrd="0" presId="urn:microsoft.com/office/officeart/2008/layout/AlternatingPictureCircles"/>
    <dgm:cxn modelId="{253499C3-2BE4-47D0-BC74-E65814901C73}" type="presParOf" srcId="{C5B56C2A-40EB-4479-A619-FBF9BD2A99B0}" destId="{94A4FE1C-A75E-464C-AA14-625ACB41B3A6}" srcOrd="0" destOrd="0" presId="urn:microsoft.com/office/officeart/2008/layout/AlternatingPictureCircles"/>
    <dgm:cxn modelId="{0ED6A644-67E2-4CC0-A661-0CEAFDF57A8D}" type="presParOf" srcId="{C5B56C2A-40EB-4479-A619-FBF9BD2A99B0}" destId="{B5BA7886-1E66-4894-95D0-8097589C60AA}" srcOrd="1" destOrd="0" presId="urn:microsoft.com/office/officeart/2008/layout/AlternatingPictureCircles"/>
    <dgm:cxn modelId="{D171B443-FF6F-40A1-AD9F-C412E7DB6D1C}" type="presParOf" srcId="{C5B56C2A-40EB-4479-A619-FBF9BD2A99B0}" destId="{C12F1B7C-BB3C-486C-B6A9-D517B8E5741E}" srcOrd="2" destOrd="0" presId="urn:microsoft.com/office/officeart/2008/layout/AlternatingPictureCircles"/>
    <dgm:cxn modelId="{8995820A-20D1-4181-9CA7-8702C54A9656}" type="presParOf" srcId="{C5B56C2A-40EB-4479-A619-FBF9BD2A99B0}" destId="{FEB85332-562F-4A32-9BDF-3A186AB012CF}" srcOrd="3" destOrd="0" presId="urn:microsoft.com/office/officeart/2008/layout/AlternatingPictureCircles"/>
  </dgm:cxnLst>
  <dgm:bg>
    <a:blipFill>
      <a:blip xmlns:r="http://schemas.openxmlformats.org/officeDocument/2006/relationships" r:embed="rId2"/>
      <a:stretch>
        <a:fillRect/>
      </a:stretch>
    </a:blipFill>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029C4A-D9C1-4765-8EB6-0D189F83B4B6}">
      <dsp:nvSpPr>
        <dsp:cNvPr id="0" name=""/>
        <dsp:cNvSpPr/>
      </dsp:nvSpPr>
      <dsp:spPr>
        <a:xfrm>
          <a:off x="98607" y="275494"/>
          <a:ext cx="3795973" cy="2355565"/>
        </a:xfrm>
        <a:prstGeom prst="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11" t="-27200" r="2070" b="7195"/>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F9BAD6-E59A-4418-A654-DBD1DCA92464}">
      <dsp:nvSpPr>
        <dsp:cNvPr id="0" name=""/>
        <dsp:cNvSpPr/>
      </dsp:nvSpPr>
      <dsp:spPr>
        <a:xfrm>
          <a:off x="677804" y="2407008"/>
          <a:ext cx="2695697" cy="1000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lvl="0" algn="ctr" defTabSz="622300">
            <a:lnSpc>
              <a:spcPct val="90000"/>
            </a:lnSpc>
            <a:spcBef>
              <a:spcPct val="0"/>
            </a:spcBef>
            <a:spcAft>
              <a:spcPct val="35000"/>
            </a:spcAft>
          </a:pPr>
          <a:r>
            <a:rPr lang="en-US" sz="1400" kern="1200" smtClean="0"/>
            <a:t> </a:t>
          </a:r>
          <a:endParaRPr lang="en-US" sz="1400" kern="1200"/>
        </a:p>
      </dsp:txBody>
      <dsp:txXfrm>
        <a:off x="677804" y="2407008"/>
        <a:ext cx="2695697" cy="1000103"/>
      </dsp:txXfrm>
    </dsp:sp>
    <dsp:sp modelId="{06E95453-B007-4090-AF3D-2A53C61EDD2A}">
      <dsp:nvSpPr>
        <dsp:cNvPr id="0" name=""/>
        <dsp:cNvSpPr/>
      </dsp:nvSpPr>
      <dsp:spPr>
        <a:xfrm>
          <a:off x="4801823" y="0"/>
          <a:ext cx="3264759" cy="2325235"/>
        </a:xfrm>
        <a:prstGeom prst="rect">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17033" r="-17033"/>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4AB3E7-D664-4268-926F-AC1D30EBD0DC}">
      <dsp:nvSpPr>
        <dsp:cNvPr id="0" name=""/>
        <dsp:cNvSpPr/>
      </dsp:nvSpPr>
      <dsp:spPr>
        <a:xfrm>
          <a:off x="4818536" y="2337806"/>
          <a:ext cx="3417982" cy="8456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lvl="0" algn="ctr" defTabSz="622300">
            <a:lnSpc>
              <a:spcPct val="90000"/>
            </a:lnSpc>
            <a:spcBef>
              <a:spcPct val="0"/>
            </a:spcBef>
            <a:spcAft>
              <a:spcPct val="35000"/>
            </a:spcAft>
          </a:pPr>
          <a:r>
            <a:rPr lang="en-US" sz="1400" kern="1200" dirty="0" smtClean="0">
              <a:solidFill>
                <a:schemeClr val="bg1"/>
              </a:solidFill>
            </a:rPr>
            <a:t>WELCOME MESSAGE ALONG WITH QUICK PROMPTS  FOR AGENT </a:t>
          </a:r>
          <a:endParaRPr lang="en-US" sz="1400" kern="1200" dirty="0">
            <a:solidFill>
              <a:schemeClr val="bg1"/>
            </a:solidFill>
          </a:endParaRPr>
        </a:p>
      </dsp:txBody>
      <dsp:txXfrm>
        <a:off x="4818536" y="2337806"/>
        <a:ext cx="3417982" cy="845677"/>
      </dsp:txXfrm>
    </dsp:sp>
    <dsp:sp modelId="{10660646-E5A4-4CFC-B382-17E13F0FED61}">
      <dsp:nvSpPr>
        <dsp:cNvPr id="0" name=""/>
        <dsp:cNvSpPr/>
      </dsp:nvSpPr>
      <dsp:spPr>
        <a:xfrm>
          <a:off x="8506202" y="247676"/>
          <a:ext cx="2695697" cy="1857335"/>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5000" r="-1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8692C6-B542-43A4-A5BE-EB887103D1F4}">
      <dsp:nvSpPr>
        <dsp:cNvPr id="0" name=""/>
        <dsp:cNvSpPr/>
      </dsp:nvSpPr>
      <dsp:spPr>
        <a:xfrm>
          <a:off x="8506202" y="2105012"/>
          <a:ext cx="2695697" cy="1000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lvl="0" algn="ctr" defTabSz="622300">
            <a:lnSpc>
              <a:spcPct val="90000"/>
            </a:lnSpc>
            <a:spcBef>
              <a:spcPct val="0"/>
            </a:spcBef>
            <a:spcAft>
              <a:spcPct val="35000"/>
            </a:spcAft>
          </a:pPr>
          <a:r>
            <a:rPr lang="en-US" sz="1400" kern="1200" dirty="0" smtClean="0">
              <a:solidFill>
                <a:schemeClr val="bg1"/>
              </a:solidFill>
            </a:rPr>
            <a:t>KNOWLEDGE OPTION</a:t>
          </a:r>
        </a:p>
        <a:p>
          <a:pPr lvl="0" algn="ctr" defTabSz="622300">
            <a:lnSpc>
              <a:spcPct val="90000"/>
            </a:lnSpc>
            <a:spcBef>
              <a:spcPct val="0"/>
            </a:spcBef>
            <a:spcAft>
              <a:spcPct val="35000"/>
            </a:spcAft>
          </a:pPr>
          <a:r>
            <a:rPr lang="en-US" sz="1400" kern="1200" dirty="0" smtClean="0">
              <a:solidFill>
                <a:schemeClr val="bg1"/>
              </a:solidFill>
            </a:rPr>
            <a:t>  FOR AGENT </a:t>
          </a:r>
          <a:endParaRPr lang="en-US" sz="1400" kern="1200" dirty="0">
            <a:solidFill>
              <a:schemeClr val="bg1"/>
            </a:solidFill>
          </a:endParaRPr>
        </a:p>
      </dsp:txBody>
      <dsp:txXfrm>
        <a:off x="8506202" y="2105012"/>
        <a:ext cx="2695697" cy="1000103"/>
      </dsp:txXfrm>
    </dsp:sp>
    <dsp:sp modelId="{D1083B71-927B-4533-9719-FB98EE7208CD}">
      <dsp:nvSpPr>
        <dsp:cNvPr id="0" name=""/>
        <dsp:cNvSpPr/>
      </dsp:nvSpPr>
      <dsp:spPr>
        <a:xfrm>
          <a:off x="0" y="3426361"/>
          <a:ext cx="4107191" cy="2324362"/>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15000" r="-1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8765CC-1C67-4404-B3E9-AE4DE79C2F41}">
      <dsp:nvSpPr>
        <dsp:cNvPr id="0" name=""/>
        <dsp:cNvSpPr/>
      </dsp:nvSpPr>
      <dsp:spPr>
        <a:xfrm>
          <a:off x="2458730" y="5713211"/>
          <a:ext cx="2695697" cy="1000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lvl="0" algn="ctr" defTabSz="622300">
            <a:lnSpc>
              <a:spcPct val="90000"/>
            </a:lnSpc>
            <a:spcBef>
              <a:spcPct val="0"/>
            </a:spcBef>
            <a:spcAft>
              <a:spcPct val="35000"/>
            </a:spcAft>
          </a:pPr>
          <a:r>
            <a:rPr lang="en-US" sz="1400" kern="1200" dirty="0" smtClean="0">
              <a:solidFill>
                <a:schemeClr val="bg1"/>
              </a:solidFill>
            </a:rPr>
            <a:t>KNOWLEDGE  BASE OPTION  APPEAR WHEN WE CLICK EDIT </a:t>
          </a:r>
          <a:r>
            <a:rPr lang="en-US" sz="1400" kern="1200" dirty="0" smtClean="0"/>
            <a:t>FOR THE AGENT</a:t>
          </a:r>
        </a:p>
        <a:p>
          <a:pPr lvl="0" algn="ctr" defTabSz="622300">
            <a:lnSpc>
              <a:spcPct val="90000"/>
            </a:lnSpc>
            <a:spcBef>
              <a:spcPct val="0"/>
            </a:spcBef>
            <a:spcAft>
              <a:spcPct val="35000"/>
            </a:spcAft>
          </a:pPr>
          <a:endParaRPr lang="en-US" sz="1400" kern="1200" dirty="0"/>
        </a:p>
      </dsp:txBody>
      <dsp:txXfrm>
        <a:off x="2458730" y="5713211"/>
        <a:ext cx="2695697" cy="1000103"/>
      </dsp:txXfrm>
    </dsp:sp>
    <dsp:sp modelId="{B12E33D5-A1DF-410B-841A-BE3B5BD87087}">
      <dsp:nvSpPr>
        <dsp:cNvPr id="0" name=""/>
        <dsp:cNvSpPr/>
      </dsp:nvSpPr>
      <dsp:spPr>
        <a:xfrm>
          <a:off x="4079726" y="3429003"/>
          <a:ext cx="4600612" cy="2301758"/>
        </a:xfrm>
        <a:prstGeom prst="rect">
          <a:avLst/>
        </a:prstGeom>
        <a:blipFill dpi="0" rotWithShape="1">
          <a:blip xmlns:r="http://schemas.openxmlformats.org/officeDocument/2006/relationships" r:embed="rId5">
            <a:extLst>
              <a:ext uri="{28A0092B-C50C-407E-A947-70E740481C1C}">
                <a14:useLocalDpi xmlns:a14="http://schemas.microsoft.com/office/drawing/2010/main" val="0"/>
              </a:ext>
            </a:extLst>
          </a:blip>
          <a:srcRect/>
          <a:stretch>
            <a:fillRect l="-15000" t="-2083" r="-1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383B0A-EEA3-4555-866E-C3B6624ECB3B}">
      <dsp:nvSpPr>
        <dsp:cNvPr id="0" name=""/>
        <dsp:cNvSpPr/>
      </dsp:nvSpPr>
      <dsp:spPr>
        <a:xfrm>
          <a:off x="5335288" y="5584441"/>
          <a:ext cx="2695697" cy="1000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lvl="0" algn="ctr" defTabSz="622300">
            <a:lnSpc>
              <a:spcPct val="90000"/>
            </a:lnSpc>
            <a:spcBef>
              <a:spcPct val="0"/>
            </a:spcBef>
            <a:spcAft>
              <a:spcPct val="35000"/>
            </a:spcAft>
          </a:pPr>
          <a:endParaRPr lang="en-US" sz="1400" kern="1200" dirty="0"/>
        </a:p>
      </dsp:txBody>
      <dsp:txXfrm>
        <a:off x="5335288" y="5584441"/>
        <a:ext cx="2695697" cy="1000103"/>
      </dsp:txXfrm>
    </dsp:sp>
    <dsp:sp modelId="{74BE6E92-BC59-4B2D-B60D-D5EE9ECFB372}">
      <dsp:nvSpPr>
        <dsp:cNvPr id="0" name=""/>
        <dsp:cNvSpPr/>
      </dsp:nvSpPr>
      <dsp:spPr>
        <a:xfrm>
          <a:off x="9253126" y="3615999"/>
          <a:ext cx="2695697" cy="1857335"/>
        </a:xfrm>
        <a:prstGeom prst="roundRect">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l="-15000" r="-1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B06ED4-F9F6-4137-AD5C-A34B8D3B9FC1}">
      <dsp:nvSpPr>
        <dsp:cNvPr id="0" name=""/>
        <dsp:cNvSpPr/>
      </dsp:nvSpPr>
      <dsp:spPr>
        <a:xfrm>
          <a:off x="9253126" y="5473335"/>
          <a:ext cx="2695697" cy="10001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0" numCol="1" spcCol="1270" anchor="t" anchorCtr="0">
          <a:noAutofit/>
        </a:bodyPr>
        <a:lstStyle/>
        <a:p>
          <a:pPr lvl="0" algn="ctr" defTabSz="622300">
            <a:lnSpc>
              <a:spcPct val="90000"/>
            </a:lnSpc>
            <a:spcBef>
              <a:spcPct val="0"/>
            </a:spcBef>
            <a:spcAft>
              <a:spcPct val="35000"/>
            </a:spcAft>
          </a:pPr>
          <a:endParaRPr lang="en-US" sz="1400" kern="1200" dirty="0"/>
        </a:p>
      </dsp:txBody>
      <dsp:txXfrm>
        <a:off x="9253126" y="5473335"/>
        <a:ext cx="2695697" cy="10001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FF3DD2-82E4-4079-8105-C46E8B7AEB3F}">
      <dsp:nvSpPr>
        <dsp:cNvPr id="0" name=""/>
        <dsp:cNvSpPr/>
      </dsp:nvSpPr>
      <dsp:spPr>
        <a:xfrm>
          <a:off x="1267429" y="50519"/>
          <a:ext cx="2182579" cy="3273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8100" rIns="38100" bIns="0" numCol="1" spcCol="1270" anchor="b" anchorCtr="0">
          <a:noAutofit/>
        </a:bodyPr>
        <a:lstStyle/>
        <a:p>
          <a:pPr lvl="0" algn="l" defTabSz="444500">
            <a:lnSpc>
              <a:spcPct val="90000"/>
            </a:lnSpc>
            <a:spcBef>
              <a:spcPct val="0"/>
            </a:spcBef>
            <a:spcAft>
              <a:spcPct val="35000"/>
            </a:spcAft>
          </a:pPr>
          <a:r>
            <a:rPr lang="en-US" sz="1000" kern="1200" dirty="0" smtClean="0">
              <a:solidFill>
                <a:srgbClr val="7030A0"/>
              </a:solidFill>
            </a:rPr>
            <a:t>SUMMARY OF PDF UPLOADED </a:t>
          </a:r>
          <a:endParaRPr lang="en-US" sz="1000" kern="1200" dirty="0">
            <a:solidFill>
              <a:srgbClr val="7030A0"/>
            </a:solidFill>
          </a:endParaRPr>
        </a:p>
      </dsp:txBody>
      <dsp:txXfrm>
        <a:off x="1267429" y="50519"/>
        <a:ext cx="2182579" cy="327386"/>
      </dsp:txXfrm>
    </dsp:sp>
    <dsp:sp modelId="{01D30947-CF0A-4595-9955-F7BF20BC0F25}">
      <dsp:nvSpPr>
        <dsp:cNvPr id="0" name=""/>
        <dsp:cNvSpPr/>
      </dsp:nvSpPr>
      <dsp:spPr>
        <a:xfrm>
          <a:off x="306450" y="395989"/>
          <a:ext cx="3696526" cy="219072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44000" r="-4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43AD708-6C60-4BC7-AF14-EF8353137E31}">
      <dsp:nvSpPr>
        <dsp:cNvPr id="0" name=""/>
        <dsp:cNvSpPr/>
      </dsp:nvSpPr>
      <dsp:spPr>
        <a:xfrm>
          <a:off x="4936331" y="52554"/>
          <a:ext cx="2182579" cy="3273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8100" rIns="38100" bIns="0" numCol="1" spcCol="1270" anchor="b" anchorCtr="0">
          <a:noAutofit/>
        </a:bodyPr>
        <a:lstStyle/>
        <a:p>
          <a:pPr lvl="0" algn="l" defTabSz="444500">
            <a:lnSpc>
              <a:spcPct val="90000"/>
            </a:lnSpc>
            <a:spcBef>
              <a:spcPct val="0"/>
            </a:spcBef>
            <a:spcAft>
              <a:spcPct val="35000"/>
            </a:spcAft>
          </a:pPr>
          <a:r>
            <a:rPr lang="en-US" sz="1000" kern="1200" dirty="0" smtClean="0">
              <a:solidFill>
                <a:srgbClr val="7030A0"/>
              </a:solidFill>
            </a:rPr>
            <a:t>FLASHCARDS GENERATED </a:t>
          </a:r>
          <a:endParaRPr lang="en-US" sz="1000" kern="1200" dirty="0">
            <a:solidFill>
              <a:srgbClr val="7030A0"/>
            </a:solidFill>
          </a:endParaRPr>
        </a:p>
      </dsp:txBody>
      <dsp:txXfrm>
        <a:off x="4936331" y="52554"/>
        <a:ext cx="2182579" cy="327386"/>
      </dsp:txXfrm>
    </dsp:sp>
    <dsp:sp modelId="{A52BD51D-7A6A-4D86-8E25-87A267747BE8}">
      <dsp:nvSpPr>
        <dsp:cNvPr id="0" name=""/>
        <dsp:cNvSpPr/>
      </dsp:nvSpPr>
      <dsp:spPr>
        <a:xfrm>
          <a:off x="4437699" y="444830"/>
          <a:ext cx="3179844" cy="218257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44000" r="-4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C167F69-31EE-4B10-9B48-C2AA91DEF942}">
      <dsp:nvSpPr>
        <dsp:cNvPr id="0" name=""/>
        <dsp:cNvSpPr/>
      </dsp:nvSpPr>
      <dsp:spPr>
        <a:xfrm>
          <a:off x="1120760" y="2847703"/>
          <a:ext cx="2182579" cy="3273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8100" rIns="38100" bIns="0" numCol="1" spcCol="1270" anchor="b" anchorCtr="0">
          <a:noAutofit/>
        </a:bodyPr>
        <a:lstStyle/>
        <a:p>
          <a:pPr lvl="0" algn="l" defTabSz="444500">
            <a:lnSpc>
              <a:spcPct val="90000"/>
            </a:lnSpc>
            <a:spcBef>
              <a:spcPct val="0"/>
            </a:spcBef>
            <a:spcAft>
              <a:spcPct val="35000"/>
            </a:spcAft>
          </a:pPr>
          <a:r>
            <a:rPr lang="en-US" sz="1000" b="1" kern="1200" dirty="0" smtClean="0">
              <a:solidFill>
                <a:srgbClr val="7030A0"/>
              </a:solidFill>
            </a:rPr>
            <a:t>QUIZ QUESTIONS </a:t>
          </a:r>
        </a:p>
      </dsp:txBody>
      <dsp:txXfrm>
        <a:off x="1120760" y="2847703"/>
        <a:ext cx="2182579" cy="327386"/>
      </dsp:txXfrm>
    </dsp:sp>
    <dsp:sp modelId="{D23D8810-ED1F-4319-B468-262DDDA3C03F}">
      <dsp:nvSpPr>
        <dsp:cNvPr id="0" name=""/>
        <dsp:cNvSpPr/>
      </dsp:nvSpPr>
      <dsp:spPr>
        <a:xfrm>
          <a:off x="303296" y="3222060"/>
          <a:ext cx="3557386" cy="2073756"/>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44000" r="-4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33093F-5445-44B7-91BD-B731D90DE72C}">
      <dsp:nvSpPr>
        <dsp:cNvPr id="0" name=""/>
        <dsp:cNvSpPr/>
      </dsp:nvSpPr>
      <dsp:spPr>
        <a:xfrm>
          <a:off x="4866761" y="2885118"/>
          <a:ext cx="2182579" cy="3273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8100" rIns="38100" bIns="0" numCol="1" spcCol="1270" anchor="b" anchorCtr="0">
          <a:noAutofit/>
        </a:bodyPr>
        <a:lstStyle/>
        <a:p>
          <a:pPr lvl="0" algn="l" defTabSz="444500">
            <a:lnSpc>
              <a:spcPct val="90000"/>
            </a:lnSpc>
            <a:spcBef>
              <a:spcPct val="0"/>
            </a:spcBef>
            <a:spcAft>
              <a:spcPct val="35000"/>
            </a:spcAft>
          </a:pPr>
          <a:r>
            <a:rPr lang="en-US" sz="1000" b="1" kern="1200" dirty="0" smtClean="0">
              <a:solidFill>
                <a:srgbClr val="7030A0"/>
              </a:solidFill>
            </a:rPr>
            <a:t>STUDYPLAN CREATED BY SCHOLAR AI</a:t>
          </a:r>
          <a:endParaRPr lang="en-US" sz="1000" b="1" kern="1200" dirty="0">
            <a:solidFill>
              <a:srgbClr val="7030A0"/>
            </a:solidFill>
          </a:endParaRPr>
        </a:p>
      </dsp:txBody>
      <dsp:txXfrm>
        <a:off x="4866761" y="2885118"/>
        <a:ext cx="2182579" cy="327386"/>
      </dsp:txXfrm>
    </dsp:sp>
    <dsp:sp modelId="{692A66B1-BD32-4F72-9111-0BA180516BEB}">
      <dsp:nvSpPr>
        <dsp:cNvPr id="0" name=""/>
        <dsp:cNvSpPr/>
      </dsp:nvSpPr>
      <dsp:spPr>
        <a:xfrm>
          <a:off x="4211354" y="3321733"/>
          <a:ext cx="3473182" cy="1924096"/>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44000" r="-4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A4FE1C-A75E-464C-AA14-625ACB41B3A6}">
      <dsp:nvSpPr>
        <dsp:cNvPr id="0" name=""/>
        <dsp:cNvSpPr/>
      </dsp:nvSpPr>
      <dsp:spPr>
        <a:xfrm>
          <a:off x="6019628" y="332446"/>
          <a:ext cx="6172359" cy="6172089"/>
        </a:xfrm>
        <a:prstGeom prst="donut">
          <a:avLst>
            <a:gd name="adj" fmla="val 11010"/>
          </a:avLst>
        </a:prstGeom>
        <a:solidFill>
          <a:schemeClr val="tx1">
            <a:lumMod val="85000"/>
            <a:lumOff val="15000"/>
          </a:schemeClr>
        </a:solid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3">
          <a:scrgbClr r="0" g="0" b="0"/>
        </a:fillRef>
        <a:effectRef idx="2">
          <a:scrgbClr r="0" g="0" b="0"/>
        </a:effectRef>
        <a:fontRef idx="minor">
          <a:schemeClr val="lt1"/>
        </a:fontRef>
      </dsp:style>
    </dsp:sp>
    <dsp:sp modelId="{B5BA7886-1E66-4894-95D0-8097589C60AA}">
      <dsp:nvSpPr>
        <dsp:cNvPr id="0" name=""/>
        <dsp:cNvSpPr/>
      </dsp:nvSpPr>
      <dsp:spPr>
        <a:xfrm>
          <a:off x="71803" y="548598"/>
          <a:ext cx="7591404" cy="573979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a:ln>
          <a:no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z="-152400">
          <a:bevelT w="190500" h="38100"/>
        </a:sp3d>
      </dsp:spPr>
      <dsp:style>
        <a:lnRef idx="0">
          <a:scrgbClr r="0" g="0" b="0"/>
        </a:lnRef>
        <a:fillRef idx="1">
          <a:scrgbClr r="0" g="0" b="0"/>
        </a:fillRef>
        <a:effectRef idx="0">
          <a:scrgbClr r="0" g="0" b="0"/>
        </a:effectRef>
        <a:fontRef idx="minor"/>
      </dsp:style>
    </dsp:sp>
    <dsp:sp modelId="{C12F1B7C-BB3C-486C-B6A9-D517B8E5741E}">
      <dsp:nvSpPr>
        <dsp:cNvPr id="0" name=""/>
        <dsp:cNvSpPr/>
      </dsp:nvSpPr>
      <dsp:spPr>
        <a:xfrm>
          <a:off x="6698240" y="1011441"/>
          <a:ext cx="4814269" cy="4814058"/>
        </a:xfrm>
        <a:prstGeom prst="ellipse">
          <a:avLst/>
        </a:prstGeom>
        <a:solidFill>
          <a:schemeClr val="tx1">
            <a:lumMod val="50000"/>
            <a:lumOff val="50000"/>
            <a:alpha val="90000"/>
          </a:schemeClr>
        </a:solidFill>
        <a:ln w="9525" cap="flat" cmpd="sng" algn="ctr">
          <a:noFill/>
          <a:prstDash val="solid"/>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z="152400">
          <a:bevelT w="190500" h="38100"/>
        </a:sp3d>
      </dsp:spPr>
      <dsp:style>
        <a:lnRef idx="1">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r>
            <a:rPr lang="en-US" sz="2000" kern="1200" smtClean="0">
              <a:solidFill>
                <a:srgbClr val="7030A0"/>
              </a:solidFill>
            </a:rPr>
            <a:t>https://github.com/anushka122-raj/ScholarAI-Smart-Study-Generator-Agent</a:t>
          </a:r>
          <a:endParaRPr lang="en-US" sz="2000" kern="1200">
            <a:solidFill>
              <a:srgbClr val="7030A0"/>
            </a:solidFill>
          </a:endParaRPr>
        </a:p>
      </dsp:txBody>
      <dsp:txXfrm>
        <a:off x="7403273" y="1716443"/>
        <a:ext cx="3404203" cy="3404054"/>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PictureGrid">
  <dgm:title val=""/>
  <dgm:desc val=""/>
  <dgm:catLst>
    <dgm:cat type="picture" pri="11000"/>
    <dgm:cat type="pictureconvert" pri="11000"/>
  </dgm:catLst>
  <dgm:samp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varLst>
    <dgm:choose name="Name1">
      <dgm:if name="Name2" axis="ch" ptType="node" func="cnt" op="lte" val="4">
        <dgm:choose name="Name3">
          <dgm:if name="Name4" func="var" arg="dir" op="equ" val="norm">
            <dgm:alg type="snake">
              <dgm:param type="off" val="ctr"/>
              <dgm:param type="bkpt" val="fixed"/>
              <dgm:param type="bkPtFixedVal" val="2"/>
            </dgm:alg>
          </dgm:if>
          <dgm:else name="Name5">
            <dgm:alg type="snake">
              <dgm:param type="off" val="ctr"/>
              <dgm:param type="grDir" val="tR"/>
              <dgm:param type="bkpt" val="fixed"/>
              <dgm:param type="bkPtFixedVal" val="2"/>
            </dgm:alg>
          </dgm:else>
        </dgm:choose>
      </dgm:if>
      <dgm:else name="Name6">
        <dgm:choose name="Name7">
          <dgm:if name="Name8" axis="ch" ptType="node" func="cnt" op="lte" val="9">
            <dgm:choose name="Name9">
              <dgm:if name="Name10" func="var" arg="dir" op="equ" val="norm">
                <dgm:alg type="snake">
                  <dgm:param type="off" val="ctr"/>
                  <dgm:param type="bkpt" val="fixed"/>
                  <dgm:param type="bkPtFixedVal" val="3"/>
                </dgm:alg>
              </dgm:if>
              <dgm:else name="Name11">
                <dgm:alg type="snake">
                  <dgm:param type="off" val="ctr"/>
                  <dgm:param type="grDir" val="tR"/>
                  <dgm:param type="bkpt" val="fixed"/>
                  <dgm:param type="bkPtFixedVal" val="3"/>
                </dgm:alg>
              </dgm:else>
            </dgm:choose>
          </dgm:if>
          <dgm:else name="Name12">
            <dgm:choose name="Name13">
              <dgm:if name="Name14" axis="ch" ptType="node" func="cnt" op="lte" val="16">
                <dgm:choose name="Name15">
                  <dgm:if name="Name16" func="var" arg="dir" op="equ" val="norm">
                    <dgm:alg type="snake">
                      <dgm:param type="off" val="ctr"/>
                      <dgm:param type="bkpt" val="fixed"/>
                      <dgm:param type="bkPtFixedVal" val="4"/>
                    </dgm:alg>
                  </dgm:if>
                  <dgm:else name="Name17">
                    <dgm:alg type="snake">
                      <dgm:param type="off" val="ctr"/>
                      <dgm:param type="grDir" val="tR"/>
                      <dgm:param type="bkpt" val="fixed"/>
                      <dgm:param type="bkPtFixedVal" val="4"/>
                    </dgm:alg>
                  </dgm:else>
                </dgm:choose>
              </dgm:if>
              <dgm:else name="Name18">
                <dgm:choose name="Name19">
                  <dgm:if name="Name20" axis="ch" ptType="node" func="cnt" op="lte" val="25">
                    <dgm:choose name="Name21">
                      <dgm:if name="Name22" func="var" arg="dir" op="equ" val="norm">
                        <dgm:alg type="snake">
                          <dgm:param type="off" val="ctr"/>
                          <dgm:param type="bkpt" val="fixed"/>
                          <dgm:param type="bkPtFixedVal" val="5"/>
                        </dgm:alg>
                      </dgm:if>
                      <dgm:else name="Name23">
                        <dgm:alg type="snake">
                          <dgm:param type="off" val="ctr"/>
                          <dgm:param type="grDir" val="tR"/>
                          <dgm:param type="bkpt" val="fixed"/>
                          <dgm:param type="bkPtFixedVal" val="5"/>
                        </dgm:alg>
                      </dgm:else>
                    </dgm:choose>
                  </dgm:if>
                  <dgm:else name="Name24">
                    <dgm:choose name="Name25">
                      <dgm:if name="Name26" func="var" arg="dir" op="equ" val="norm">
                        <dgm:alg type="snake">
                          <dgm:param type="off" val="ctr"/>
                        </dgm:alg>
                      </dgm:if>
                      <dgm:else name="Name27">
                        <dgm:alg type="snake">
                          <dgm:param type="off" val="ctr"/>
                          <dgm:param type="grDir" val="tR"/>
                        </dgm:alg>
                      </dgm:else>
                    </dgm:choose>
                  </dgm:else>
                </dgm:choose>
              </dgm:else>
            </dgm:choose>
          </dgm:else>
        </dgm:choose>
      </dgm:else>
    </dgm:choose>
    <dgm:shape xmlns:r="http://schemas.openxmlformats.org/officeDocument/2006/relationships" r:blip="">
      <dgm:adjLst/>
    </dgm:shape>
    <dgm:constrLst>
      <dgm:constr type="primFontSz" for="des" ptType="node" op="equ" val="65"/>
      <dgm:constr type="w" for="ch" forName="composite" refType="h" fact="0.8"/>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0.7568"/>
        </dgm:alg>
        <dgm:shape xmlns:r="http://schemas.openxmlformats.org/officeDocument/2006/relationships" r:blip="">
          <dgm:adjLst/>
        </dgm:shape>
        <dgm:constrLst>
          <dgm:constr type="l" for="ch" forName="rect1" refType="w" fact="0"/>
          <dgm:constr type="t" for="ch" forName="rect1" refType="h" fact="0.15"/>
          <dgm:constr type="w" for="ch" forName="rect1" refType="w"/>
          <dgm:constr type="h" for="ch" forName="rect1" refType="w"/>
          <dgm:constr type="l" for="ch" forName="rect2" refType="w" fact="0"/>
          <dgm:constr type="t" for="ch" forName="rect2" refType="h" fact="0"/>
          <dgm:constr type="w" for="ch" forName="rect2" refType="w"/>
          <dgm:constr type="h" for="ch" forName="rect2" refType="w" fact="0.15"/>
        </dgm:constrLst>
        <dgm:layoutNode name="rect2" styleLbl="revTx">
          <dgm:varLst>
            <dgm:bulletEnabled val="1"/>
          </dgm:varLst>
          <dgm:alg type="tx">
            <dgm:param type="stBulletLvl" val="3"/>
            <dgm:param type="parTxLTRAlign" val="l"/>
            <dgm:param type="parTxRTLAlign" val="r"/>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3"/>
            <dgm:constr type="tMarg" refType="primFontSz" fact="0.3"/>
            <dgm:constr type="bMarg" refType="primFontSz" fact="0"/>
            <dgm:constr type="secFontSz" refType="primFontSz" fact="0.8"/>
          </dgm:constrLst>
          <dgm:ruleLst>
            <dgm:rule type="primFontSz" val="5" fact="NaN" max="NaN"/>
          </dgm:ruleLst>
        </dgm:layoutNode>
        <dgm:layoutNode name="rect1"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AlternatingPictureCircles">
  <dgm:title val=""/>
  <dgm:desc val=""/>
  <dgm:catLst>
    <dgm:cat type="picture" pri="17000"/>
    <dgm:cat type="pictureconvert" pri="1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3" destOrd="0"/>
      </dgm:cxnLst>
      <dgm:bg/>
      <dgm:whole/>
    </dgm:dataModel>
  </dgm:clrData>
  <dgm:layoutNode name="Name0">
    <dgm:varLst>
      <dgm:chMax/>
      <dgm:chPref/>
      <dgm:dir/>
    </dgm:varLst>
    <dgm:alg type="lin">
      <dgm:param type="linDir" val="fromT"/>
      <dgm:param type="fallback" val="2D"/>
      <dgm:param type="horzAlign" val="ctr"/>
      <dgm:param type="nodeVertAlign" val="t"/>
    </dgm:alg>
    <dgm:shape xmlns:r="http://schemas.openxmlformats.org/officeDocument/2006/relationships" r:blip="">
      <dgm:adjLst/>
    </dgm:shape>
    <dgm:choose name="Name1">
      <dgm:if name="Name2" axis="ch" ptType="node" func="cnt" op="gte" val="2">
        <dgm:constrLst>
          <dgm:constr type="primFontSz" for="des" ptType="node" op="equ" val="65"/>
          <dgm:constr type="w" for="ch" forName="composite" refType="h" refFor="ch" refForName="composite" fact="2.9499"/>
          <dgm:constr type="h" for="ch" forName="composite" refType="h"/>
          <dgm:constr type="h" for="ch" forName="ConnectorComposite" refType="w" refFor="ch" refForName="composite" op="equ" fact="0.1685"/>
          <dgm:constr type="w" for="ch" forName="ConnectorComposite" refType="h" refFor="ch" refForName="ConnectorComposite" op="equ"/>
        </dgm:constrLst>
      </dgm:if>
      <dgm:else name="Name3">
        <dgm:constrLst>
          <dgm:constr type="primFontSz" for="des" ptType="node" op="equ" val="65"/>
          <dgm:constr type="w" for="ch" forName="composite" refType="h" refFor="ch" refForName="composite" fact="1.9752"/>
          <dgm:constr type="h" for="ch" forName="composite" refType="h"/>
          <dgm:constr type="h" for="ch" forName="ConnectorComposite" refType="w" refFor="ch" refForName="composite" op="equ" fact="0.1685"/>
          <dgm:constr type="w" for="ch" forName="ConnectorComposite" refType="h" refFor="ch" refForName="ConnectorComposite" op="equ"/>
        </dgm:constrLst>
      </dgm:else>
    </dgm:choose>
    <dgm:forEach name="nodesForEach" axis="ch" ptType="node">
      <dgm:layoutNode name="composite">
        <dgm:alg type="composite"/>
        <dgm:shape xmlns:r="http://schemas.openxmlformats.org/officeDocument/2006/relationships" r:blip="">
          <dgm:adjLst/>
        </dgm:shape>
        <dgm:choose name="Name4">
          <dgm:if name="Name5" axis="precedSib" ptType="sibTrans" func="cnt" op="lte" val="0">
            <dgm:choose name="Name6">
              <dgm:if name="Name7" axis="followSib" ptType="sibTrans" func="cnt" op="lte" val="0">
                <dgm:choose name="Name8">
                  <dgm:if name="Name9" func="var" arg="dir" op="equ" val="norm">
                    <dgm:constrLst>
                      <dgm:constr type="l" for="ch" forName="Accent" refType="w" fact="0.4937"/>
                      <dgm:constr type="t" for="ch" forName="Accent" refType="h" fact="0"/>
                      <dgm:constr type="h" for="ch" forName="Accent" refType="w" refFor="ch" refForName="Accent"/>
                      <dgm:constr type="w" for="ch" forName="Accent" refType="w" fact="0.5063"/>
                      <dgm:constr type="l" for="ch" forName="Parent" refType="w" fact="0.5494"/>
                      <dgm:constr type="t" for="ch" forName="Parent" refType="h" fact="0.11"/>
                      <dgm:constr type="h" for="ch" forName="Parent" refType="w" refFor="ch" refForName="Parent"/>
                      <dgm:constr type="w" for="ch" forName="Parent" refType="w" fact="0.3949"/>
                      <dgm:constr type="l" for="ch" forName="Image" refType="w" fact="0"/>
                      <dgm:constr type="t" for="ch" forName="Image" refType="h" fact="0.035"/>
                      <dgm:constr type="h" for="ch" forName="Image" refType="h" fact="0.93"/>
                      <dgm:constr type="w" for="ch" forName="Image" refType="w" fact="0.6227"/>
                    </dgm:constrLst>
                  </dgm:if>
                  <dgm:else name="Name10">
                    <dgm:constrLst>
                      <dgm:constr type="l" for="ch" forName="Accent" refType="w" fact="0"/>
                      <dgm:constr type="t" for="ch" forName="Accent" refType="h" fact="0"/>
                      <dgm:constr type="h" for="ch" forName="Accent" refType="w" refFor="ch" refForName="Accent"/>
                      <dgm:constr type="w" for="ch" forName="Accent" refType="w" fact="0.5063"/>
                      <dgm:constr type="l" for="ch" forName="Parent" refType="w" fact="0.0557"/>
                      <dgm:constr type="t" for="ch" forName="Parent" refType="h" fact="0.11"/>
                      <dgm:constr type="h" for="ch" forName="Parent" refType="w" refFor="ch" refForName="Parent"/>
                      <dgm:constr type="w" for="ch" forName="Parent" refType="w" fact="0.3949"/>
                      <dgm:constr type="l" for="ch" forName="Image" refType="w" fact="0.3773"/>
                      <dgm:constr type="t" for="ch" forName="Image" refType="h" fact="0.035"/>
                      <dgm:constr type="h" for="ch" forName="Image" refType="h" fact="0.93"/>
                      <dgm:constr type="w" for="ch" forName="Image" refType="w" fact="0.6227"/>
                    </dgm:constrLst>
                  </dgm:else>
                </dgm:choose>
              </dgm:if>
              <dgm:else name="Name11">
                <dgm:choose name="Name12">
                  <dgm:if name="Name13" func="var" arg="dir" op="equ" val="norm">
                    <dgm:choose name="Name14">
                      <dgm:if name="Name15"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if>
                      <dgm:else name="Name16">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else>
                    </dgm:choose>
                  </dgm:if>
                  <dgm:else name="Name17">
                    <dgm:choose name="Name18">
                      <dgm:if name="Name19"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if>
                      <dgm:else name="Name20">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else>
                    </dgm:choose>
                  </dgm:else>
                </dgm:choose>
              </dgm:else>
            </dgm:choose>
          </dgm:if>
          <dgm:else name="Name21">
            <dgm:choose name="Name22">
              <dgm:if name="Name23" func="var" arg="dir" op="equ" val="norm">
                <dgm:choose name="Name24">
                  <dgm:if name="Name25"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if>
                  <dgm:else name="Name26">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else>
                </dgm:choose>
              </dgm:if>
              <dgm:else name="Name27">
                <dgm:choose name="Name28">
                  <dgm:if name="Name29"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if>
                  <dgm:else name="Name30">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else>
                </dgm:choose>
              </dgm:else>
            </dgm:choose>
          </dgm:else>
        </dgm:choose>
        <dgm:layoutNode name="Accent" styleLbl="alignNode1">
          <dgm:varLst>
            <dgm:chMax val="0"/>
            <dgm:chPref val="0"/>
          </dgm:varLst>
          <dgm:alg type="sp"/>
          <dgm:shape xmlns:r="http://schemas.openxmlformats.org/officeDocument/2006/relationships" type="donut" r:blip="">
            <dgm:adjLst>
              <dgm:adj idx="1" val="0.1101"/>
            </dgm:adjLst>
          </dgm:shape>
          <dgm:presOf/>
        </dgm:layoutNode>
        <dgm:layoutNode name="Image" styleLbl="bgImgPlace1">
          <dgm:varLst>
            <dgm:chMax val="0"/>
            <dgm:chPref val="0"/>
            <dgm:bulletEnabled val="1"/>
          </dgm:varLst>
          <dgm:alg type="sp"/>
          <dgm:shape xmlns:r="http://schemas.openxmlformats.org/officeDocument/2006/relationships" type="rect" r:blip="" blipPhldr="1">
            <dgm:adjLst/>
          </dgm:shape>
          <dgm:presOf/>
        </dgm:layoutNode>
        <dgm:layoutNode name="Parent" styleLbl="fgAccFollowNode1">
          <dgm:varLst>
            <dgm:chMax val="0"/>
            <dgm:chPref val="0"/>
            <dgm:bulletEnabled val="1"/>
          </dgm:varLst>
          <dgm:alg type="tx">
            <dgm:param type="txAnchorVertCh" val="mid"/>
          </dgm:alg>
          <dgm:shape xmlns:r="http://schemas.openxmlformats.org/officeDocument/2006/relationships" type="ellipse"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Space">
          <dgm:varLst>
            <dgm:chMax val="0"/>
            <dgm:chPref val="0"/>
          </dgm:varLst>
          <dgm:alg type="sp"/>
          <dgm:shape xmlns:r="http://schemas.openxmlformats.org/officeDocument/2006/relationships" r:blip="">
            <dgm:adjLst/>
          </dgm:shape>
          <dgm:presOf/>
        </dgm:layoutNode>
      </dgm:layoutNode>
      <dgm:forEach name="Name31" axis="followSib" ptType="sibTrans" cnt="1">
        <dgm:layoutNode name="ConnectorComposite">
          <dgm:alg type="composite">
            <dgm:param type="ar" val=".4"/>
          </dgm:alg>
          <dgm:shape xmlns:r="http://schemas.openxmlformats.org/officeDocument/2006/relationships" r:blip="">
            <dgm:adjLst/>
          </dgm:shape>
          <dgm:constrLst>
            <dgm:constr type="l" for="ch" forName="TopSpacing" refType="w" fact="0"/>
            <dgm:constr type="t" for="ch" forName="TopSpacing" refType="h" fact="0"/>
            <dgm:constr type="h" for="ch" forName="TopSpacing" refType="h" fact="0.3"/>
            <dgm:constr type="w" for="ch" forName="TopSpacing" refType="w"/>
            <dgm:constr type="l" for="ch" forName="Connector" refType="w" fact="0"/>
            <dgm:constr type="t" for="ch" forName="Connector" refType="h" fact="0.3"/>
            <dgm:constr type="h" for="ch" forName="Connector" refType="h" fact="0.4"/>
            <dgm:constr type="w" for="ch" forName="Connector" refType="h" refFor="ch" refForName="Connector"/>
            <dgm:constr type="l" for="ch" forName="BottomSpacing" refType="w" fact="0"/>
            <dgm:constr type="t" for="ch" forName="BottomSpacing" refType="h" fact="0.7"/>
            <dgm:constr type="h" for="ch" forName="BottomSpacing" refType="h" fact="0.3"/>
            <dgm:constr type="w" for="ch" forName="BottomSpacing" refType="w"/>
          </dgm:constrLst>
          <dgm:layoutNode name="TopSpacing">
            <dgm:alg type="sp"/>
            <dgm:shape xmlns:r="http://schemas.openxmlformats.org/officeDocument/2006/relationships" r:blip="">
              <dgm:adjLst/>
            </dgm:shape>
          </dgm:layoutNode>
          <dgm:layoutNode name="Connector" styleLbl="alignNode1">
            <dgm:alg type="sp"/>
            <dgm:shape xmlns:r="http://schemas.openxmlformats.org/officeDocument/2006/relationships" type="flowChartConnector" r:blip="">
              <dgm:adjLst/>
            </dgm:shape>
            <dgm:presOf/>
          </dgm:layoutNode>
          <dgm:layoutNode name="BottomSpacing">
            <dgm:alg type="sp"/>
            <dgm:shape xmlns:r="http://schemas.openxmlformats.org/officeDocument/2006/relationships" r:blip="">
              <dgm:adjLst/>
            </dgm:shape>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82753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webp"/><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0.webp"/><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0.pn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42.png"/><Relationship Id="rId7" Type="http://schemas.openxmlformats.org/officeDocument/2006/relationships/diagramQuickStyle" Target="../diagrams/quickStyle3.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Layout" Target="../diagrams/layout3.xml"/><Relationship Id="rId5" Type="http://schemas.openxmlformats.org/officeDocument/2006/relationships/diagramData" Target="../diagrams/data3.xml"/><Relationship Id="rId4" Type="http://schemas.microsoft.com/office/2007/relationships/hdphoto" Target="../media/hdphoto1.wdp"/><Relationship Id="rId9" Type="http://schemas.microsoft.com/office/2007/relationships/diagramDrawing" Target="../diagrams/drawing3.xml"/></Relationships>
</file>

<file path=ppt/slides/_rels/slide25.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pattFill prst="solidDmnd">
          <a:fgClr>
            <a:schemeClr val="bg2">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solidFill>
            <a:schemeClr val="bg2">
              <a:lumMod val="60000"/>
              <a:lumOff val="40000"/>
            </a:schemeClr>
          </a:solidFill>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solidFill>
                  <a:schemeClr val="bg1">
                    <a:lumMod val="95000"/>
                  </a:schemeClr>
                </a:solidFill>
              </a:rPr>
              <a:t>“Exploring the Power of Agentic AI with IBM Granite and IBM Bob”</a:t>
            </a:r>
            <a:endParaRPr lang="en-IN" dirty="0">
              <a:solidFill>
                <a:schemeClr val="bg1">
                  <a:lumMod val="95000"/>
                </a:schemeClr>
              </a:solidFill>
            </a:endParaRPr>
          </a:p>
        </p:txBody>
      </p:sp>
    </p:spTree>
    <p:extLst>
      <p:ext uri="{BB962C8B-B14F-4D97-AF65-F5344CB8AC3E}">
        <p14:creationId xmlns:p14="http://schemas.microsoft.com/office/powerpoint/2010/main" val="38285595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A828B9EF-C084-F5D4-CA27-75AF7D995640}"/>
              </a:ext>
            </a:extLst>
          </p:cNvPr>
          <p:cNvSpPr txBox="1"/>
          <p:nvPr/>
        </p:nvSpPr>
        <p:spPr>
          <a:xfrm>
            <a:off x="1102321" y="1377707"/>
            <a:ext cx="9581177" cy="830997"/>
          </a:xfrm>
          <a:prstGeom prst="rect">
            <a:avLst/>
          </a:prstGeom>
          <a:solidFill>
            <a:schemeClr val="bg2">
              <a:lumMod val="40000"/>
              <a:lumOff val="60000"/>
            </a:schemeClr>
          </a:solidFill>
        </p:spPr>
        <p:txBody>
          <a:bodyPr wrap="square" rtlCol="0">
            <a:spAutoFit/>
          </a:bodyPr>
          <a:lstStyle/>
          <a:p>
            <a:r>
              <a:rPr lang="en-US" sz="2400" b="1" dirty="0"/>
              <a:t>Domain of  Project – </a:t>
            </a:r>
            <a:r>
              <a:rPr lang="en-IN" sz="2400" dirty="0"/>
              <a:t>AI-Powered Personalized Learning Assistant</a:t>
            </a:r>
            <a:endParaRPr lang="en-IN" sz="2400" b="1" dirty="0">
              <a:highlight>
                <a:srgbClr val="FFFF00"/>
              </a:highlight>
            </a:endParaRPr>
          </a:p>
          <a:p>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977629" y="425138"/>
            <a:ext cx="9581177" cy="461665"/>
          </a:xfrm>
          <a:prstGeom prst="rect">
            <a:avLst/>
          </a:prstGeom>
          <a:solidFill>
            <a:schemeClr val="bg2">
              <a:lumMod val="40000"/>
              <a:lumOff val="60000"/>
            </a:schemeClr>
          </a:solidFill>
        </p:spPr>
        <p:txBody>
          <a:bodyPr wrap="square" rtlCol="0">
            <a:spAutoFit/>
          </a:bodyPr>
          <a:lstStyle/>
          <a:p>
            <a:r>
              <a:rPr lang="en-US" sz="2400" b="1" dirty="0"/>
              <a:t>Project Tile </a:t>
            </a:r>
            <a:r>
              <a:rPr lang="en-US" sz="2400" b="1" dirty="0" smtClean="0"/>
              <a:t>–</a:t>
            </a:r>
            <a:r>
              <a:rPr lang="en-US" sz="2400" dirty="0" err="1"/>
              <a:t>ScholarAI</a:t>
            </a:r>
            <a:r>
              <a:rPr lang="en-US" sz="2400" dirty="0"/>
              <a:t> – AI-Powered Smart Study Generator</a:t>
            </a:r>
            <a:endParaRPr lang="en-IN" sz="2400" b="1" dirty="0">
              <a:highlight>
                <a:srgbClr val="FFFF00"/>
              </a:highlight>
            </a:endParaRPr>
          </a:p>
        </p:txBody>
      </p:sp>
    </p:spTree>
    <p:extLst>
      <p:ext uri="{BB962C8B-B14F-4D97-AF65-F5344CB8AC3E}">
        <p14:creationId xmlns:p14="http://schemas.microsoft.com/office/powerpoint/2010/main" val="9523178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1" t="9357" r="370" b="891"/>
          <a:stretch/>
        </p:blipFill>
        <p:spPr>
          <a:xfrm>
            <a:off x="3825550" y="1950097"/>
            <a:ext cx="7912359" cy="4795935"/>
          </a:xfrm>
          <a:prstGeom prst="rect">
            <a:avLst/>
          </a:prstGeom>
        </p:spPr>
      </p:pic>
      <p:sp>
        <p:nvSpPr>
          <p:cNvPr id="10" name="TextBox 9"/>
          <p:cNvSpPr txBox="1"/>
          <p:nvPr/>
        </p:nvSpPr>
        <p:spPr>
          <a:xfrm>
            <a:off x="625150" y="1356168"/>
            <a:ext cx="11280710" cy="400110"/>
          </a:xfrm>
          <a:prstGeom prst="rect">
            <a:avLst/>
          </a:prstGeom>
          <a:noFill/>
        </p:spPr>
        <p:txBody>
          <a:bodyPr wrap="square" rtlCol="0">
            <a:spAutoFit/>
          </a:bodyPr>
          <a:lstStyle/>
          <a:p>
            <a:r>
              <a:rPr lang="en-IN" sz="2000" b="1" dirty="0" smtClean="0">
                <a:solidFill>
                  <a:schemeClr val="bg1"/>
                </a:solidFill>
              </a:rPr>
              <a:t>Step 1 </a:t>
            </a:r>
            <a:r>
              <a:rPr lang="en-IN" sz="2000" dirty="0" smtClean="0">
                <a:solidFill>
                  <a:schemeClr val="bg1"/>
                </a:solidFill>
              </a:rPr>
              <a:t>:- Login to your IBM Cloud Account using the given link https://cloud.ibm.com/login</a:t>
            </a:r>
            <a:endParaRPr lang="en-IN" sz="2000" dirty="0">
              <a:solidFill>
                <a:schemeClr val="bg1"/>
              </a:solidFill>
            </a:endParaRPr>
          </a:p>
        </p:txBody>
      </p:sp>
      <p:sp>
        <p:nvSpPr>
          <p:cNvPr id="11" name="TextBox 10"/>
          <p:cNvSpPr txBox="1"/>
          <p:nvPr/>
        </p:nvSpPr>
        <p:spPr>
          <a:xfrm>
            <a:off x="625150" y="115909"/>
            <a:ext cx="7569726" cy="1046440"/>
          </a:xfrm>
          <a:prstGeom prst="rect">
            <a:avLst/>
          </a:prstGeom>
          <a:solidFill>
            <a:schemeClr val="bg1">
              <a:lumMod val="9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IN" sz="2800" b="1" dirty="0" smtClean="0"/>
              <a:t>Service Used :- </a:t>
            </a:r>
          </a:p>
          <a:p>
            <a:endParaRPr lang="en-IN" dirty="0"/>
          </a:p>
          <a:p>
            <a:r>
              <a:rPr lang="en-IN" sz="2000" dirty="0" smtClean="0"/>
              <a:t>IBM </a:t>
            </a:r>
            <a:r>
              <a:rPr lang="en-IN" sz="2000" dirty="0" err="1" smtClean="0"/>
              <a:t>watsonx</a:t>
            </a:r>
            <a:r>
              <a:rPr lang="en-IN" sz="2000" dirty="0" smtClean="0"/>
              <a:t> Orchestrate</a:t>
            </a:r>
            <a:endParaRPr lang="en-IN" sz="2000" dirty="0"/>
          </a:p>
        </p:txBody>
      </p:sp>
    </p:spTree>
    <p:extLst>
      <p:ext uri="{BB962C8B-B14F-4D97-AF65-F5344CB8AC3E}">
        <p14:creationId xmlns:p14="http://schemas.microsoft.com/office/powerpoint/2010/main" val="3229220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597159" y="475862"/>
            <a:ext cx="9442580" cy="523220"/>
          </a:xfrm>
          <a:prstGeom prst="rect">
            <a:avLst/>
          </a:prstGeom>
          <a:solidFill>
            <a:schemeClr val="bg1">
              <a:lumMod val="95000"/>
            </a:schemeClr>
          </a:solidFill>
        </p:spPr>
        <p:txBody>
          <a:bodyPr wrap="square" rtlCol="0">
            <a:spAutoFit/>
          </a:bodyPr>
          <a:lstStyle/>
          <a:p>
            <a:r>
              <a:rPr lang="en-IN" sz="2800" dirty="0" smtClean="0">
                <a:solidFill>
                  <a:srgbClr val="002060"/>
                </a:solidFill>
              </a:rPr>
              <a:t>Step 2 :- Now Search for </a:t>
            </a:r>
            <a:r>
              <a:rPr lang="en-IN" sz="2800" b="1" dirty="0" err="1" smtClean="0">
                <a:solidFill>
                  <a:srgbClr val="002060"/>
                </a:solidFill>
              </a:rPr>
              <a:t>watsonx</a:t>
            </a:r>
            <a:r>
              <a:rPr lang="en-IN" sz="2800" b="1" dirty="0" smtClean="0">
                <a:solidFill>
                  <a:srgbClr val="002060"/>
                </a:solidFill>
              </a:rPr>
              <a:t> Orchestrate </a:t>
            </a:r>
            <a:endParaRPr lang="en-IN" sz="2800" b="1" dirty="0">
              <a:solidFill>
                <a:srgbClr val="002060"/>
              </a:solidFill>
            </a:endParaRP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t="4497" r="-248" b="2553"/>
          <a:stretch/>
        </p:blipFill>
        <p:spPr>
          <a:xfrm>
            <a:off x="2133600" y="1754155"/>
            <a:ext cx="10058400" cy="4954555"/>
          </a:xfrm>
          <a:prstGeom prst="snip1Rect">
            <a:avLst/>
          </a:prstGeom>
          <a:noFill/>
        </p:spPr>
      </p:pic>
      <p:sp>
        <p:nvSpPr>
          <p:cNvPr id="4" name="Oval 3"/>
          <p:cNvSpPr/>
          <p:nvPr/>
        </p:nvSpPr>
        <p:spPr>
          <a:xfrm>
            <a:off x="3732245" y="3172408"/>
            <a:ext cx="2043403" cy="39188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415714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866" t="15637"/>
          <a:stretch/>
        </p:blipFill>
        <p:spPr>
          <a:xfrm>
            <a:off x="2220686" y="2042431"/>
            <a:ext cx="9971314" cy="4815569"/>
          </a:xfrm>
          <a:prstGeom prst="rect">
            <a:avLst/>
          </a:prstGeom>
        </p:spPr>
      </p:pic>
      <p:sp>
        <p:nvSpPr>
          <p:cNvPr id="6" name="Down Arrow 5"/>
          <p:cNvSpPr/>
          <p:nvPr/>
        </p:nvSpPr>
        <p:spPr>
          <a:xfrm>
            <a:off x="4646645" y="1604865"/>
            <a:ext cx="149290" cy="16608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4329405" y="1081645"/>
            <a:ext cx="4068147" cy="523220"/>
          </a:xfrm>
          <a:prstGeom prst="rect">
            <a:avLst/>
          </a:prstGeom>
          <a:noFill/>
        </p:spPr>
        <p:txBody>
          <a:bodyPr wrap="square" rtlCol="0">
            <a:spAutoFit/>
          </a:bodyPr>
          <a:lstStyle/>
          <a:p>
            <a:r>
              <a:rPr lang="en-IN" dirty="0" smtClean="0"/>
              <a:t>Create an agent by choosing</a:t>
            </a:r>
          </a:p>
          <a:p>
            <a:r>
              <a:rPr lang="en-IN" dirty="0" smtClean="0"/>
              <a:t> this option </a:t>
            </a:r>
            <a:endParaRPr lang="en-IN" dirty="0"/>
          </a:p>
        </p:txBody>
      </p:sp>
      <p:sp>
        <p:nvSpPr>
          <p:cNvPr id="9" name="Rectangle 8"/>
          <p:cNvSpPr/>
          <p:nvPr/>
        </p:nvSpPr>
        <p:spPr>
          <a:xfrm>
            <a:off x="3588774" y="747252"/>
            <a:ext cx="2507226" cy="857613"/>
          </a:xfrm>
          <a:prstGeom prst="rect">
            <a:avLst/>
          </a:prstGeom>
          <a:solidFill>
            <a:schemeClr val="accent1">
              <a:lumMod val="60000"/>
              <a:lumOff val="4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a:solidFill>
                  <a:schemeClr val="tx1">
                    <a:lumMod val="95000"/>
                    <a:lumOff val="5000"/>
                  </a:schemeClr>
                </a:solidFill>
              </a:rPr>
              <a:t>Create an agent by choosing</a:t>
            </a:r>
          </a:p>
          <a:p>
            <a:r>
              <a:rPr lang="en-IN">
                <a:solidFill>
                  <a:schemeClr val="tx1">
                    <a:lumMod val="95000"/>
                    <a:lumOff val="5000"/>
                  </a:schemeClr>
                </a:solidFill>
              </a:rPr>
              <a:t> this option </a:t>
            </a:r>
            <a:endParaRPr lang="en-IN" dirty="0">
              <a:solidFill>
                <a:schemeClr val="tx1">
                  <a:lumMod val="95000"/>
                  <a:lumOff val="5000"/>
                </a:schemeClr>
              </a:solidFill>
            </a:endParaRPr>
          </a:p>
        </p:txBody>
      </p:sp>
      <p:sp>
        <p:nvSpPr>
          <p:cNvPr id="10" name="Oval 9"/>
          <p:cNvSpPr/>
          <p:nvPr/>
        </p:nvSpPr>
        <p:spPr>
          <a:xfrm>
            <a:off x="6459794" y="4188542"/>
            <a:ext cx="1494503" cy="67842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Bent-Up Arrow 10"/>
          <p:cNvSpPr/>
          <p:nvPr/>
        </p:nvSpPr>
        <p:spPr>
          <a:xfrm>
            <a:off x="7846142" y="2128085"/>
            <a:ext cx="1347019" cy="2168612"/>
          </a:xfrm>
          <a:prstGeom prst="bentUpArrow">
            <a:avLst>
              <a:gd name="adj1" fmla="val 25000"/>
              <a:gd name="adj2" fmla="val 2354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ounded Rectangle 11"/>
          <p:cNvSpPr/>
          <p:nvPr/>
        </p:nvSpPr>
        <p:spPr>
          <a:xfrm>
            <a:off x="8091948" y="747252"/>
            <a:ext cx="2585884" cy="1189703"/>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accent1">
                    <a:lumMod val="75000"/>
                  </a:schemeClr>
                </a:solidFill>
              </a:rPr>
              <a:t>BY CLICKING THE AGENTS OPTION , YOU WILL BE REDIRECTED TO THE AGENT SCHOLAR AI PAGE </a:t>
            </a:r>
            <a:endParaRPr lang="en-IN" dirty="0">
              <a:solidFill>
                <a:schemeClr val="accent1">
                  <a:lumMod val="75000"/>
                </a:schemeClr>
              </a:solidFill>
            </a:endParaRPr>
          </a:p>
        </p:txBody>
      </p:sp>
    </p:spTree>
    <p:extLst>
      <p:ext uri="{BB962C8B-B14F-4D97-AF65-F5344CB8AC3E}">
        <p14:creationId xmlns:p14="http://schemas.microsoft.com/office/powerpoint/2010/main" val="32264430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309915420"/>
              </p:ext>
            </p:extLst>
          </p:nvPr>
        </p:nvGraphicFramePr>
        <p:xfrm>
          <a:off x="237220" y="284480"/>
          <a:ext cx="11954780" cy="67133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237221" y="2873829"/>
            <a:ext cx="3840258" cy="523220"/>
          </a:xfrm>
          <a:prstGeom prst="rect">
            <a:avLst/>
          </a:prstGeom>
          <a:noFill/>
        </p:spPr>
        <p:txBody>
          <a:bodyPr wrap="square" rtlCol="0">
            <a:spAutoFit/>
          </a:bodyPr>
          <a:lstStyle/>
          <a:p>
            <a:r>
              <a:rPr lang="en-IN" dirty="0" smtClean="0"/>
              <a:t>THE </a:t>
            </a:r>
            <a:r>
              <a:rPr lang="en-IN" dirty="0" smtClean="0">
                <a:solidFill>
                  <a:schemeClr val="bg1"/>
                </a:solidFill>
              </a:rPr>
              <a:t>SCREEN AFTER CLICKING THE PREVIOUS LINK . THE SCHOLAR AI PAGE </a:t>
            </a:r>
            <a:endParaRPr lang="en-IN" dirty="0">
              <a:solidFill>
                <a:schemeClr val="bg1"/>
              </a:solidFill>
            </a:endParaRPr>
          </a:p>
        </p:txBody>
      </p:sp>
      <p:sp>
        <p:nvSpPr>
          <p:cNvPr id="8" name="TextBox 7"/>
          <p:cNvSpPr txBox="1"/>
          <p:nvPr/>
        </p:nvSpPr>
        <p:spPr>
          <a:xfrm>
            <a:off x="9517224" y="5850294"/>
            <a:ext cx="2584580" cy="523220"/>
          </a:xfrm>
          <a:prstGeom prst="rect">
            <a:avLst/>
          </a:prstGeom>
          <a:noFill/>
        </p:spPr>
        <p:txBody>
          <a:bodyPr wrap="square" rtlCol="0">
            <a:spAutoFit/>
          </a:bodyPr>
          <a:lstStyle/>
          <a:p>
            <a:r>
              <a:rPr lang="en-IN" dirty="0" smtClean="0">
                <a:solidFill>
                  <a:schemeClr val="bg1"/>
                </a:solidFill>
              </a:rPr>
              <a:t>GUIDELINES FOR THE AGENT</a:t>
            </a:r>
            <a:endParaRPr lang="en-IN" dirty="0">
              <a:solidFill>
                <a:schemeClr val="bg1"/>
              </a:solidFill>
            </a:endParaRPr>
          </a:p>
        </p:txBody>
      </p:sp>
    </p:spTree>
    <p:extLst>
      <p:ext uri="{BB962C8B-B14F-4D97-AF65-F5344CB8AC3E}">
        <p14:creationId xmlns:p14="http://schemas.microsoft.com/office/powerpoint/2010/main" val="30460057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t="8832"/>
          <a:stretch/>
        </p:blipFill>
        <p:spPr>
          <a:xfrm>
            <a:off x="0" y="800095"/>
            <a:ext cx="5937379" cy="3900196"/>
          </a:xfrm>
          <a:prstGeom prst="rect">
            <a:avLst/>
          </a:prstGeom>
        </p:spPr>
      </p:pic>
      <p:sp>
        <p:nvSpPr>
          <p:cNvPr id="3" name="TextBox 2"/>
          <p:cNvSpPr txBox="1"/>
          <p:nvPr/>
        </p:nvSpPr>
        <p:spPr>
          <a:xfrm>
            <a:off x="0" y="116137"/>
            <a:ext cx="5738327" cy="523220"/>
          </a:xfrm>
          <a:prstGeom prst="rect">
            <a:avLst/>
          </a:prstGeom>
          <a:solidFill>
            <a:schemeClr val="bg2">
              <a:lumMod val="40000"/>
              <a:lumOff val="60000"/>
            </a:schemeClr>
          </a:solidFill>
        </p:spPr>
        <p:txBody>
          <a:bodyPr wrap="square" rtlCol="0">
            <a:spAutoFit/>
          </a:bodyPr>
          <a:lstStyle/>
          <a:p>
            <a:r>
              <a:rPr lang="en-IN" sz="2800" dirty="0" smtClean="0">
                <a:solidFill>
                  <a:schemeClr val="bg1"/>
                </a:solidFill>
              </a:rPr>
              <a:t>TESTING OF THE AI AGENT :-----</a:t>
            </a:r>
            <a:endParaRPr lang="en-IN" sz="2800" dirty="0">
              <a:solidFill>
                <a:schemeClr val="bg1"/>
              </a:solidFill>
            </a:endParaRPr>
          </a:p>
        </p:txBody>
      </p:sp>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t="4846"/>
          <a:stretch/>
        </p:blipFill>
        <p:spPr>
          <a:xfrm>
            <a:off x="6046236" y="765109"/>
            <a:ext cx="6096000" cy="3900197"/>
          </a:xfrm>
          <a:prstGeom prst="rect">
            <a:avLst/>
          </a:prstGeom>
        </p:spPr>
      </p:pic>
      <p:sp>
        <p:nvSpPr>
          <p:cNvPr id="6" name="TextBox 5"/>
          <p:cNvSpPr txBox="1"/>
          <p:nvPr/>
        </p:nvSpPr>
        <p:spPr>
          <a:xfrm>
            <a:off x="391886" y="5122639"/>
            <a:ext cx="5284236" cy="707886"/>
          </a:xfrm>
          <a:prstGeom prst="rect">
            <a:avLst/>
          </a:prstGeom>
          <a:solidFill>
            <a:schemeClr val="bg2">
              <a:lumMod val="40000"/>
              <a:lumOff val="60000"/>
            </a:schemeClr>
          </a:solidFill>
          <a:ln>
            <a:noFill/>
          </a:ln>
          <a:effectLst/>
          <a:scene3d>
            <a:camera prst="orthographicFront">
              <a:rot lat="0" lon="0" rev="0"/>
            </a:camera>
            <a:lightRig rig="glow" dir="t">
              <a:rot lat="0" lon="0" rev="14100000"/>
            </a:lightRig>
          </a:scene3d>
          <a:sp3d prstMaterial="softEdge">
            <a:bevelT w="127000" prst="artDeco"/>
          </a:sp3d>
        </p:spPr>
        <p:txBody>
          <a:bodyPr wrap="square" rtlCol="0">
            <a:spAutoFit/>
          </a:bodyPr>
          <a:lstStyle/>
          <a:p>
            <a:r>
              <a:rPr lang="en-IN" sz="2000" dirty="0" smtClean="0">
                <a:solidFill>
                  <a:schemeClr val="bg1"/>
                </a:solidFill>
              </a:rPr>
              <a:t>IDENTIFY THE MOST IMPORTANT TOPICS IN THE PDF</a:t>
            </a:r>
            <a:endParaRPr lang="en-IN" sz="2000" dirty="0">
              <a:solidFill>
                <a:schemeClr val="bg1"/>
              </a:solidFill>
            </a:endParaRPr>
          </a:p>
        </p:txBody>
      </p:sp>
      <p:sp>
        <p:nvSpPr>
          <p:cNvPr id="7" name="TextBox 6"/>
          <p:cNvSpPr txBox="1"/>
          <p:nvPr/>
        </p:nvSpPr>
        <p:spPr>
          <a:xfrm>
            <a:off x="6251510" y="5029200"/>
            <a:ext cx="4851919" cy="707886"/>
          </a:xfrm>
          <a:prstGeom prst="rect">
            <a:avLst/>
          </a:prstGeom>
          <a:solidFill>
            <a:schemeClr val="bg2">
              <a:lumMod val="40000"/>
              <a:lumOff val="60000"/>
            </a:schemeClr>
          </a:solidFill>
          <a:ln>
            <a:noFill/>
          </a:ln>
          <a:effectLst/>
          <a:scene3d>
            <a:camera prst="orthographicFront">
              <a:rot lat="0" lon="0" rev="0"/>
            </a:camera>
            <a:lightRig rig="glow" dir="t">
              <a:rot lat="0" lon="0" rev="14100000"/>
            </a:lightRig>
          </a:scene3d>
          <a:sp3d prstMaterial="softEdge">
            <a:bevelT w="127000" prst="artDeco"/>
          </a:sp3d>
        </p:spPr>
        <p:txBody>
          <a:bodyPr wrap="square" rtlCol="0">
            <a:spAutoFit/>
          </a:bodyPr>
          <a:lstStyle/>
          <a:p>
            <a:r>
              <a:rPr lang="en-US" sz="2000" dirty="0">
                <a:solidFill>
                  <a:schemeClr val="bg1"/>
                </a:solidFill>
              </a:rPr>
              <a:t>Build a personalized study plan for my exam</a:t>
            </a:r>
            <a:r>
              <a:rPr lang="en-US" sz="2000" dirty="0"/>
              <a:t>.</a:t>
            </a:r>
            <a:endParaRPr lang="en-IN" sz="2000" dirty="0"/>
          </a:p>
        </p:txBody>
      </p:sp>
    </p:spTree>
    <p:extLst>
      <p:ext uri="{BB962C8B-B14F-4D97-AF65-F5344CB8AC3E}">
        <p14:creationId xmlns:p14="http://schemas.microsoft.com/office/powerpoint/2010/main" val="1726587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60000"/>
            <a:lumOff val="40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7176" y="1007707"/>
            <a:ext cx="5815534" cy="5205777"/>
          </a:xfrm>
          <a:prstGeom prst="rect">
            <a:avLst/>
          </a:prstGeom>
        </p:spPr>
      </p:pic>
      <p:sp>
        <p:nvSpPr>
          <p:cNvPr id="3" name="TextBox 2"/>
          <p:cNvSpPr txBox="1"/>
          <p:nvPr/>
        </p:nvSpPr>
        <p:spPr>
          <a:xfrm>
            <a:off x="186612" y="93305"/>
            <a:ext cx="6643396" cy="523220"/>
          </a:xfrm>
          <a:prstGeom prst="rect">
            <a:avLst/>
          </a:prstGeom>
          <a:solidFill>
            <a:schemeClr val="bg2">
              <a:lumMod val="40000"/>
              <a:lumOff val="6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r>
              <a:rPr lang="en-IN" sz="2800" dirty="0" smtClean="0"/>
              <a:t>AFTER TESTING :--- </a:t>
            </a:r>
            <a:endParaRPr lang="en-IN" sz="28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07707"/>
            <a:ext cx="6056401" cy="5365101"/>
          </a:xfrm>
          <a:prstGeom prst="rect">
            <a:avLst/>
          </a:prstGeom>
        </p:spPr>
      </p:pic>
    </p:spTree>
    <p:extLst>
      <p:ext uri="{BB962C8B-B14F-4D97-AF65-F5344CB8AC3E}">
        <p14:creationId xmlns:p14="http://schemas.microsoft.com/office/powerpoint/2010/main" val="27375848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pic>
        <p:nvPicPr>
          <p:cNvPr id="4" name="Picture 3" descr="&lt;strong&gt;AI&lt;/strong&gt; Exploratory Testing: Revolutionize Your QA Strategy"/>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705600"/>
          </a:xfrm>
          <a:prstGeom prst="rect">
            <a:avLst/>
          </a:prstGeom>
        </p:spPr>
      </p:pic>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1245814" cy="4616648"/>
          </a:xfrm>
          <a:prstGeom prst="rect">
            <a:avLst/>
          </a:prstGeom>
          <a:solidFill>
            <a:schemeClr val="accent1">
              <a:lumMod val="20000"/>
              <a:lumOff val="80000"/>
            </a:schemeClr>
          </a:solidFill>
          <a:ln>
            <a:noFill/>
          </a:ln>
          <a:effectLst>
            <a:outerShdw blurRad="149987" dist="250190" dir="8460000" algn="ctr">
              <a:srgbClr val="000000">
                <a:alpha val="28000"/>
              </a:srgbClr>
            </a:outerShdw>
          </a:effectLst>
          <a:scene3d>
            <a:camera prst="obliqueTopRight"/>
            <a:lightRig rig="contrasting" dir="t">
              <a:rot lat="0" lon="0" rev="1500000"/>
            </a:lightRig>
          </a:scene3d>
          <a:sp3d prstMaterial="metal">
            <a:bevelT w="88900" h="88900"/>
          </a:sp3d>
        </p:spPr>
        <p:txBody>
          <a:bodyPr wrap="square" rtlCol="0">
            <a:spAutoFit/>
          </a:bodyPr>
          <a:lstStyle/>
          <a:p>
            <a:r>
              <a:rPr lang="en-US" sz="2800" b="1" u="sng" dirty="0">
                <a:effectLst>
                  <a:outerShdw blurRad="38100" dist="38100" dir="2700000" algn="tl">
                    <a:srgbClr val="000000">
                      <a:alpha val="43137"/>
                    </a:srgbClr>
                  </a:outerShdw>
                </a:effectLst>
              </a:rPr>
              <a:t>The </a:t>
            </a:r>
            <a:r>
              <a:rPr lang="en-US" sz="2800" b="1" u="sng" dirty="0" smtClean="0">
                <a:effectLst>
                  <a:outerShdw blurRad="38100" dist="38100" dir="2700000" algn="tl">
                    <a:srgbClr val="000000">
                      <a:alpha val="43137"/>
                    </a:srgbClr>
                  </a:outerShdw>
                </a:effectLst>
              </a:rPr>
              <a:t>Challenge:--</a:t>
            </a:r>
          </a:p>
          <a:p>
            <a:endParaRPr lang="en-US" b="1" dirty="0"/>
          </a:p>
          <a:p>
            <a:r>
              <a:rPr lang="en-US" dirty="0"/>
              <a:t>Students often spend a significant amount of time reading lengthy study materials, preparing notes, creating flashcards, designing practice quizzes, and planning their exam schedules. These tasks are usually performed manually, making the learning process time-consuming and less efficient. Additionally, students may struggle to identify key concepts, organize study plans, and assess their understanding effectively</a:t>
            </a:r>
            <a:r>
              <a:rPr lang="en-US" dirty="0" smtClean="0"/>
              <a:t>.</a:t>
            </a:r>
          </a:p>
          <a:p>
            <a:endParaRPr lang="en-US" dirty="0"/>
          </a:p>
          <a:p>
            <a:r>
              <a:rPr lang="en-US" sz="2800" b="1" u="sng" dirty="0">
                <a:effectLst>
                  <a:outerShdw blurRad="38100" dist="38100" dir="2700000" algn="tl">
                    <a:srgbClr val="000000">
                      <a:alpha val="43137"/>
                    </a:srgbClr>
                  </a:outerShdw>
                </a:effectLst>
              </a:rPr>
              <a:t>The </a:t>
            </a:r>
            <a:r>
              <a:rPr lang="en-US" sz="2800" b="1" u="sng" dirty="0" smtClean="0">
                <a:effectLst>
                  <a:outerShdw blurRad="38100" dist="38100" dir="2700000" algn="tl">
                    <a:srgbClr val="000000">
                      <a:alpha val="43137"/>
                    </a:srgbClr>
                  </a:outerShdw>
                </a:effectLst>
              </a:rPr>
              <a:t>Objective :--</a:t>
            </a:r>
          </a:p>
          <a:p>
            <a:endParaRPr lang="en-US" b="1" dirty="0"/>
          </a:p>
          <a:p>
            <a:r>
              <a:rPr lang="en-US" dirty="0"/>
              <a:t>Build an </a:t>
            </a:r>
            <a:r>
              <a:rPr lang="en-US" b="1" dirty="0"/>
              <a:t>AI-powered Smart Study Generator</a:t>
            </a:r>
            <a:r>
              <a:rPr lang="en-US" dirty="0"/>
              <a:t> that helps students learn more efficiently by automatically transforming study material into interactive learning resources. The solution aims to</a:t>
            </a:r>
            <a:r>
              <a:rPr lang="en-US" dirty="0" smtClean="0"/>
              <a:t>:</a:t>
            </a:r>
          </a:p>
          <a:p>
            <a:endParaRPr lang="en-US" dirty="0"/>
          </a:p>
          <a:p>
            <a:pPr marL="285750" indent="-285750">
              <a:buFont typeface="Arial" panose="020B0604020202020204" pitchFamily="34" charset="0"/>
              <a:buChar char="•"/>
            </a:pPr>
            <a:r>
              <a:rPr lang="en-US" b="1" dirty="0"/>
              <a:t>Study Summary Generation</a:t>
            </a:r>
            <a:r>
              <a:rPr lang="en-US" dirty="0"/>
              <a:t> – Create concise summaries from lengthy notes while highlighting key concepts. </a:t>
            </a:r>
          </a:p>
          <a:p>
            <a:pPr marL="285750" indent="-285750">
              <a:buFont typeface="Arial" panose="020B0604020202020204" pitchFamily="34" charset="0"/>
              <a:buChar char="•"/>
            </a:pPr>
            <a:r>
              <a:rPr lang="en-US" b="1" dirty="0"/>
              <a:t>Flashcard Generation</a:t>
            </a:r>
            <a:r>
              <a:rPr lang="en-US" dirty="0"/>
              <a:t> – Automatically generate question-and-answer flashcards for quick revision. </a:t>
            </a:r>
          </a:p>
          <a:p>
            <a:pPr marL="285750" indent="-285750">
              <a:buFont typeface="Arial" panose="020B0604020202020204" pitchFamily="34" charset="0"/>
              <a:buChar char="•"/>
            </a:pPr>
            <a:r>
              <a:rPr lang="en-US" b="1" dirty="0"/>
              <a:t>Quiz Generation</a:t>
            </a:r>
            <a:r>
              <a:rPr lang="en-US" dirty="0"/>
              <a:t> – Produce multiple-choice and short-answer questions to help students evaluate their understanding. </a:t>
            </a:r>
          </a:p>
          <a:p>
            <a:pPr marL="285750" indent="-285750">
              <a:buFont typeface="Arial" panose="020B0604020202020204" pitchFamily="34" charset="0"/>
              <a:buChar char="•"/>
            </a:pPr>
            <a:r>
              <a:rPr lang="en-US" b="1" dirty="0"/>
              <a:t>Personalized Study Plan</a:t>
            </a:r>
            <a:r>
              <a:rPr lang="en-US" dirty="0"/>
              <a:t> – Generate structured study schedules based on topics and available study time. </a:t>
            </a:r>
          </a:p>
          <a:p>
            <a:pPr marL="285750" indent="-285750">
              <a:buFont typeface="Arial" panose="020B0604020202020204" pitchFamily="34" charset="0"/>
              <a:buChar char="•"/>
            </a:pPr>
            <a:r>
              <a:rPr lang="en-US" b="1" dirty="0"/>
              <a:t>Modular AI Services</a:t>
            </a:r>
            <a:r>
              <a:rPr lang="en-US" dirty="0"/>
              <a:t> – Organize the application into independent services for summary generation, flashcards, quizzes, and study planning, making the system scalable and maintainable. </a:t>
            </a:r>
          </a:p>
          <a:p>
            <a:pPr marL="285750" indent="-285750">
              <a:buFont typeface="Arial" panose="020B0604020202020204" pitchFamily="34" charset="0"/>
              <a:buChar char="•"/>
            </a:pPr>
            <a:r>
              <a:rPr lang="en-US" b="1" dirty="0"/>
              <a:t>AI-Assisted Development</a:t>
            </a:r>
            <a:r>
              <a:rPr lang="en-US" dirty="0"/>
              <a:t> – Utilize IBM Bob for intelligent code generation and IBM </a:t>
            </a:r>
            <a:r>
              <a:rPr lang="en-US" dirty="0" err="1"/>
              <a:t>watsonx</a:t>
            </a:r>
            <a:r>
              <a:rPr lang="en-US" dirty="0"/>
              <a:t> Orchestrate to demonstrate AI agent workflows. </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539510"/>
            <a:ext cx="7214616" cy="461665"/>
          </a:xfrm>
          <a:prstGeom prst="rect">
            <a:avLst/>
          </a:prstGeom>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sz="2400" b="1" dirty="0"/>
              <a:t>Problem </a:t>
            </a:r>
            <a:r>
              <a:rPr lang="en-US" sz="2400" b="1" dirty="0" smtClean="0"/>
              <a:t>Statement : </a:t>
            </a:r>
            <a:r>
              <a:rPr lang="en-US" sz="2400" b="1" dirty="0"/>
              <a:t>-</a:t>
            </a:r>
            <a:endParaRPr lang="en-IN" sz="2400" b="1" dirty="0"/>
          </a:p>
        </p:txBody>
      </p:sp>
    </p:spTree>
    <p:extLst>
      <p:ext uri="{BB962C8B-B14F-4D97-AF65-F5344CB8AC3E}">
        <p14:creationId xmlns:p14="http://schemas.microsoft.com/office/powerpoint/2010/main" val="2616533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83686" y="0"/>
            <a:ext cx="11542621" cy="923330"/>
          </a:xfrm>
          <a:prstGeom prst="rect">
            <a:avLst/>
          </a:prstGeom>
          <a:noFill/>
        </p:spPr>
        <p:txBody>
          <a:bodyPr wrap="square" rtlCol="0">
            <a:spAutoFit/>
          </a:bodyPr>
          <a:lstStyle/>
          <a:p>
            <a:pPr fontAlgn="base"/>
            <a:endParaRPr lang="en-US" b="1" dirty="0"/>
          </a:p>
          <a:p>
            <a:pPr fontAlgn="base"/>
            <a:endParaRPr lang="en-US" sz="2000" dirty="0"/>
          </a:p>
          <a:p>
            <a:endParaRPr lang="en-IN" sz="2000" dirty="0"/>
          </a:p>
        </p:txBody>
      </p:sp>
      <p:pic>
        <p:nvPicPr>
          <p:cNvPr id="5" name="Picture 4" descr="Are &lt;strong&gt;Robo&lt;/strong&gt;-Advisors Worth It? A Comprehensive Review | Savtix"/>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236951" cy="6858000"/>
          </a:xfrm>
          <a:prstGeom prst="rect">
            <a:avLst/>
          </a:prstGeom>
        </p:spPr>
      </p:pic>
      <p:sp>
        <p:nvSpPr>
          <p:cNvPr id="3" name="TextBox 2">
            <a:extLst>
              <a:ext uri="{FF2B5EF4-FFF2-40B4-BE49-F238E27FC236}">
                <a16:creationId xmlns:a16="http://schemas.microsoft.com/office/drawing/2014/main" id="{527F30CC-07EF-8FCC-DA00-C9212F5DAECE}"/>
              </a:ext>
            </a:extLst>
          </p:cNvPr>
          <p:cNvSpPr txBox="1"/>
          <p:nvPr/>
        </p:nvSpPr>
        <p:spPr>
          <a:xfrm>
            <a:off x="250784" y="307298"/>
            <a:ext cx="7214616" cy="523220"/>
          </a:xfrm>
          <a:prstGeom prst="rect">
            <a:avLst/>
          </a:prstGeom>
          <a:solidFill>
            <a:schemeClr val="accent5">
              <a:lumMod val="40000"/>
              <a:lumOff val="60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800" b="1"/>
              <a:t>Proposed Solution </a:t>
            </a:r>
            <a:r>
              <a:rPr lang="en-US" sz="2800" b="1" smtClean="0"/>
              <a:t>:--</a:t>
            </a:r>
            <a:endParaRPr lang="en-IN" sz="2800" b="1"/>
          </a:p>
        </p:txBody>
      </p:sp>
      <p:sp>
        <p:nvSpPr>
          <p:cNvPr id="4" name="Rectangle 3"/>
          <p:cNvSpPr/>
          <p:nvPr/>
        </p:nvSpPr>
        <p:spPr>
          <a:xfrm>
            <a:off x="250784" y="1091563"/>
            <a:ext cx="11690431" cy="5632311"/>
          </a:xfrm>
          <a:prstGeom prst="rect">
            <a:avLst/>
          </a:prstGeom>
          <a:pattFill prst="solidDmnd">
            <a:fgClr>
              <a:schemeClr val="bg1">
                <a:lumMod val="95000"/>
              </a:schemeClr>
            </a:fgClr>
            <a:bgClr>
              <a:schemeClr val="bg1"/>
            </a:bgClr>
          </a:pattFill>
        </p:spPr>
        <p:txBody>
          <a:bodyPr wrap="square">
            <a:spAutoFit/>
          </a:bodyPr>
          <a:lstStyle/>
          <a:p>
            <a:r>
              <a:rPr lang="en-US" sz="2000" b="1" dirty="0"/>
              <a:t>Proposed Solution: </a:t>
            </a:r>
            <a:r>
              <a:rPr lang="en-US" sz="2000" b="1" dirty="0" err="1"/>
              <a:t>ScholarAI</a:t>
            </a:r>
            <a:r>
              <a:rPr lang="en-US" sz="2000" b="1" dirty="0"/>
              <a:t> – AI-Powered Smart Study Generator</a:t>
            </a:r>
          </a:p>
          <a:p>
            <a:r>
              <a:rPr lang="en-US" sz="2000" dirty="0" err="1"/>
              <a:t>ScholarAI</a:t>
            </a:r>
            <a:r>
              <a:rPr lang="en-US" sz="2000" dirty="0"/>
              <a:t> is an AI-powered learning assistant developed using </a:t>
            </a:r>
            <a:r>
              <a:rPr lang="en-US" sz="2000" b="1" dirty="0"/>
              <a:t>Python</a:t>
            </a:r>
            <a:r>
              <a:rPr lang="en-US" sz="2000" dirty="0"/>
              <a:t>, </a:t>
            </a:r>
            <a:r>
              <a:rPr lang="en-US" sz="2000" b="1" dirty="0"/>
              <a:t>IBM Bob</a:t>
            </a:r>
            <a:r>
              <a:rPr lang="en-US" sz="2000" dirty="0"/>
              <a:t>, </a:t>
            </a:r>
            <a:r>
              <a:rPr lang="en-US" sz="2000" b="1" dirty="0"/>
              <a:t>IBM Granite</a:t>
            </a:r>
            <a:r>
              <a:rPr lang="en-US" sz="2000" dirty="0"/>
              <a:t>, and </a:t>
            </a:r>
            <a:r>
              <a:rPr lang="en-US" sz="2000" b="1" dirty="0"/>
              <a:t>IBM </a:t>
            </a:r>
            <a:r>
              <a:rPr lang="en-US" sz="2000" b="1" dirty="0" err="1"/>
              <a:t>watsonx</a:t>
            </a:r>
            <a:r>
              <a:rPr lang="en-US" sz="2000" b="1" dirty="0"/>
              <a:t> Orchestrate</a:t>
            </a:r>
            <a:r>
              <a:rPr lang="en-US" sz="2000" dirty="0"/>
              <a:t>. It helps students prepare for exams by automatically converting study material into interactive learning resources.</a:t>
            </a:r>
          </a:p>
          <a:p>
            <a:r>
              <a:rPr lang="en-US" sz="2000" b="1" dirty="0"/>
              <a:t>Key Features</a:t>
            </a:r>
          </a:p>
          <a:p>
            <a:pPr>
              <a:buFont typeface="Arial" panose="020B0604020202020204" pitchFamily="34" charset="0"/>
              <a:buChar char="•"/>
            </a:pPr>
            <a:r>
              <a:rPr lang="en-US" sz="2000" b="1" dirty="0"/>
              <a:t>Study Summary Service</a:t>
            </a:r>
            <a:r>
              <a:rPr lang="en-US" sz="2000" dirty="0"/>
              <a:t> – Generates concise summaries from study notes. </a:t>
            </a:r>
          </a:p>
          <a:p>
            <a:pPr>
              <a:buFont typeface="Arial" panose="020B0604020202020204" pitchFamily="34" charset="0"/>
              <a:buChar char="•"/>
            </a:pPr>
            <a:r>
              <a:rPr lang="en-US" sz="2000" b="1" dirty="0"/>
              <a:t>Flashcard Service</a:t>
            </a:r>
            <a:r>
              <a:rPr lang="en-US" sz="2000" dirty="0"/>
              <a:t> – Creates question-and-answer flashcards for quick revision. </a:t>
            </a:r>
          </a:p>
          <a:p>
            <a:pPr>
              <a:buFont typeface="Arial" panose="020B0604020202020204" pitchFamily="34" charset="0"/>
              <a:buChar char="•"/>
            </a:pPr>
            <a:r>
              <a:rPr lang="en-US" sz="2000" b="1" dirty="0"/>
              <a:t>Quiz Service</a:t>
            </a:r>
            <a:r>
              <a:rPr lang="en-US" sz="2000" dirty="0"/>
              <a:t> – Generates multiple-choice and short-answer questions for self-assessment. </a:t>
            </a:r>
          </a:p>
          <a:p>
            <a:pPr>
              <a:buFont typeface="Arial" panose="020B0604020202020204" pitchFamily="34" charset="0"/>
              <a:buChar char="•"/>
            </a:pPr>
            <a:r>
              <a:rPr lang="en-US" sz="2000" b="1" dirty="0"/>
              <a:t>Study Plan Service</a:t>
            </a:r>
            <a:r>
              <a:rPr lang="en-US" sz="2000" dirty="0"/>
              <a:t> – Creates personalized study schedules based on topics and available study time. </a:t>
            </a:r>
          </a:p>
          <a:p>
            <a:r>
              <a:rPr lang="en-US" sz="2000" b="1" dirty="0"/>
              <a:t>Implementation</a:t>
            </a:r>
          </a:p>
          <a:p>
            <a:r>
              <a:rPr lang="en-US" sz="2000" dirty="0"/>
              <a:t>The application follows a </a:t>
            </a:r>
            <a:r>
              <a:rPr lang="en-US" sz="2000" b="1" dirty="0"/>
              <a:t>modular architecture</a:t>
            </a:r>
            <a:r>
              <a:rPr lang="en-US" sz="2000" dirty="0"/>
              <a:t>, making it scalable, easy to maintain, and simple to test. IBM Bob assisted in code generation and implementation planning, while IBM Granite supports intelligent language processing. IBM </a:t>
            </a:r>
            <a:r>
              <a:rPr lang="en-US" sz="2000" dirty="0" err="1"/>
              <a:t>watsonx</a:t>
            </a:r>
            <a:r>
              <a:rPr lang="en-US" sz="2000" dirty="0"/>
              <a:t> Orchestrate demonstrates AI agent workflow automation.</a:t>
            </a:r>
          </a:p>
          <a:p>
            <a:r>
              <a:rPr lang="en-US" sz="2000" b="1" dirty="0"/>
              <a:t>Outcome</a:t>
            </a:r>
          </a:p>
          <a:p>
            <a:r>
              <a:rPr lang="en-US" sz="2000" dirty="0" err="1"/>
              <a:t>ScholarAI</a:t>
            </a:r>
            <a:r>
              <a:rPr lang="en-US" sz="2000" dirty="0"/>
              <a:t> enables students to summarize, revise, practice, and plan their studies efficiently through a single AI-powered application.</a:t>
            </a:r>
          </a:p>
        </p:txBody>
      </p:sp>
    </p:spTree>
    <p:extLst>
      <p:ext uri="{BB962C8B-B14F-4D97-AF65-F5344CB8AC3E}">
        <p14:creationId xmlns:p14="http://schemas.microsoft.com/office/powerpoint/2010/main" val="6194599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0" y="0"/>
            <a:ext cx="7123176" cy="523220"/>
          </a:xfrm>
          <a:prstGeom prst="rect">
            <a:avLst/>
          </a:prstGeom>
          <a:solidFill>
            <a:schemeClr val="tx2">
              <a:lumMod val="50000"/>
            </a:schemeClr>
          </a:solidFill>
          <a:scene3d>
            <a:camera prst="obliqueTopRight"/>
            <a:lightRig rig="threePt" dir="t"/>
          </a:scene3d>
        </p:spPr>
        <p:txBody>
          <a:bodyPr wrap="square" lIns="91440" tIns="45720" rIns="91440" bIns="45720" rtlCol="0" anchor="t">
            <a:spAutoFit/>
          </a:bodyPr>
          <a:lstStyle/>
          <a:p>
            <a:r>
              <a:rPr lang="en-US" sz="2800" b="1" dirty="0"/>
              <a:t>Technology </a:t>
            </a:r>
            <a:r>
              <a:rPr lang="en-US" sz="2800" b="1" dirty="0" smtClean="0"/>
              <a:t>Used  </a:t>
            </a:r>
            <a:r>
              <a:rPr lang="en-US" sz="2400" b="1" dirty="0" smtClean="0"/>
              <a:t>:--</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0" y="564333"/>
            <a:ext cx="12446000" cy="6370975"/>
          </a:xfrm>
          <a:prstGeom prst="rect">
            <a:avLst/>
          </a:prstGeom>
          <a:solidFill>
            <a:schemeClr val="tx1">
              <a:lumMod val="65000"/>
              <a:lumOff val="35000"/>
            </a:schemeClr>
          </a:solidFill>
          <a:scene3d>
            <a:camera prst="obliqueTopRight"/>
            <a:lightRig rig="threePt" dir="t"/>
          </a:scene3d>
        </p:spPr>
        <p:txBody>
          <a:bodyPr wrap="square" rtlCol="0">
            <a:spAutoFit/>
          </a:bodyPr>
          <a:lstStyle/>
          <a:p>
            <a:r>
              <a:rPr lang="en-US" sz="2000" b="1" dirty="0"/>
              <a:t>IBM Bob Platform</a:t>
            </a:r>
          </a:p>
          <a:p>
            <a:r>
              <a:rPr lang="en-US" sz="2000" dirty="0"/>
              <a:t>Used for AI-assisted code generation and project development. IBM Bob helped generate Python service modules, suggest implementation plans, and automate coding tasks during the development of </a:t>
            </a:r>
            <a:r>
              <a:rPr lang="en-US" sz="2000" dirty="0" err="1"/>
              <a:t>ScholarAI</a:t>
            </a:r>
            <a:r>
              <a:rPr lang="en-US" sz="2000" dirty="0"/>
              <a:t>.</a:t>
            </a:r>
          </a:p>
          <a:p>
            <a:r>
              <a:rPr lang="en-US" sz="2000" b="1" dirty="0"/>
              <a:t>IBM Granite Model</a:t>
            </a:r>
          </a:p>
          <a:p>
            <a:r>
              <a:rPr lang="en-US" sz="2000" dirty="0"/>
              <a:t>IBM Granite models provide the foundation for natural language understanding, summarization, reasoning, and intelligent content generation. They can be integrated to enhance study summaries, quiz generation, and personalized learning.</a:t>
            </a:r>
          </a:p>
          <a:p>
            <a:r>
              <a:rPr lang="en-US" sz="2000" b="1" dirty="0"/>
              <a:t>IBM </a:t>
            </a:r>
            <a:r>
              <a:rPr lang="en-US" sz="2000" b="1" dirty="0" err="1"/>
              <a:t>watsonx</a:t>
            </a:r>
            <a:r>
              <a:rPr lang="en-US" sz="2000" b="1" dirty="0"/>
              <a:t> Orchestrate</a:t>
            </a:r>
          </a:p>
          <a:p>
            <a:r>
              <a:rPr lang="en-US" sz="2000" dirty="0"/>
              <a:t>Used to create and manage AI agents that automate workflows. It demonstrates how Agentic AI can coordinate different tasks within the </a:t>
            </a:r>
            <a:r>
              <a:rPr lang="en-US" sz="2000" dirty="0" err="1"/>
              <a:t>ScholarAI</a:t>
            </a:r>
            <a:r>
              <a:rPr lang="en-US" sz="2000" dirty="0"/>
              <a:t> project.</a:t>
            </a:r>
          </a:p>
          <a:p>
            <a:r>
              <a:rPr lang="en-US" sz="2000" b="1" dirty="0"/>
              <a:t>Python</a:t>
            </a:r>
          </a:p>
          <a:p>
            <a:r>
              <a:rPr lang="en-US" sz="2000" dirty="0"/>
              <a:t>The primary programming language used to develop the application and implement all backend services, including study summaries, flashcards, quizzes, and study plans.</a:t>
            </a:r>
          </a:p>
          <a:p>
            <a:r>
              <a:rPr lang="en-US" sz="2000" b="1" dirty="0" err="1"/>
              <a:t>Pytest</a:t>
            </a:r>
            <a:endParaRPr lang="en-US" sz="2000" b="1" dirty="0"/>
          </a:p>
          <a:p>
            <a:r>
              <a:rPr lang="en-US" sz="2000" dirty="0"/>
              <a:t>Used to perform unit testing and verify the correctness of all application modules. The project successfully passed all </a:t>
            </a:r>
            <a:r>
              <a:rPr lang="en-US" sz="2000" b="1" dirty="0"/>
              <a:t>49/49</a:t>
            </a:r>
            <a:r>
              <a:rPr lang="en-US" sz="2000" dirty="0"/>
              <a:t> test cases.</a:t>
            </a:r>
          </a:p>
          <a:p>
            <a:r>
              <a:rPr lang="en-US" sz="2000" b="1" dirty="0"/>
              <a:t>Visual Studio Code</a:t>
            </a:r>
          </a:p>
          <a:p>
            <a:r>
              <a:rPr lang="en-US" sz="2000" dirty="0"/>
              <a:t>Used as the integrated development environment (IDE) for writing, testing, and debugging the </a:t>
            </a:r>
            <a:r>
              <a:rPr lang="en-US" sz="2000" dirty="0" err="1"/>
              <a:t>ScholarAI</a:t>
            </a:r>
            <a:r>
              <a:rPr lang="en-US" sz="2000" dirty="0"/>
              <a:t> application.</a:t>
            </a:r>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0000" r="-20000"/>
          </a:stretch>
        </a:blipFill>
        <a:effectLst/>
      </p:bgPr>
    </p:bg>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28392" y="1349613"/>
            <a:ext cx="8963608" cy="534352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5" name="Down Arrow 4"/>
          <p:cNvSpPr/>
          <p:nvPr/>
        </p:nvSpPr>
        <p:spPr>
          <a:xfrm>
            <a:off x="3492054" y="771747"/>
            <a:ext cx="380150" cy="9357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2"/>
          <p:cNvSpPr>
            <a:spLocks noChangeArrowheads="1"/>
          </p:cNvSpPr>
          <p:nvPr/>
        </p:nvSpPr>
        <p:spPr bwMode="auto">
          <a:xfrm>
            <a:off x="349995" y="1469838"/>
            <a:ext cx="2630905" cy="4616648"/>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Arial Unicode MS"/>
              </a:rPr>
              <a:t>app/services/study_summary_service.py</a:t>
            </a:r>
            <a:r>
              <a:rPr kumimoji="0" lang="en-US" altLang="en-US" i="0" u="none" strike="noStrike" cap="none" normalizeH="0" baseline="0" dirty="0" smtClean="0">
                <a:ln>
                  <a:noFill/>
                </a:ln>
                <a:solidFill>
                  <a:schemeClr val="tx1"/>
                </a:solidFill>
                <a:effectLst/>
              </a:rPr>
              <a:t> </a:t>
            </a:r>
            <a:endParaRPr kumimoji="0" lang="en-US" altLang="en-US"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Arial Unicode MS"/>
              </a:rPr>
              <a:t>app/services/flashcard_service.py</a:t>
            </a:r>
            <a:r>
              <a:rPr kumimoji="0" lang="en-US" altLang="en-US" i="0" u="none" strike="noStrike" cap="none" normalizeH="0" baseline="0" dirty="0" smtClean="0">
                <a:ln>
                  <a:noFill/>
                </a:ln>
                <a:solidFill>
                  <a:schemeClr val="tx1"/>
                </a:solidFill>
                <a:effectLst/>
              </a:rPr>
              <a:t> </a:t>
            </a:r>
            <a:endParaRPr kumimoji="0" lang="en-US" altLang="en-US"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Arial Unicode MS"/>
              </a:rPr>
              <a:t>app/services/quiz_service.py</a:t>
            </a:r>
            <a:r>
              <a:rPr kumimoji="0" lang="en-US" altLang="en-US" i="0" u="none" strike="noStrike" cap="none" normalizeH="0" baseline="0" dirty="0" smtClean="0">
                <a:ln>
                  <a:noFill/>
                </a:ln>
                <a:solidFill>
                  <a:schemeClr val="tx1"/>
                </a:solidFill>
                <a:effectLst/>
              </a:rPr>
              <a:t> </a:t>
            </a:r>
            <a:endParaRPr kumimoji="0" lang="en-US" altLang="en-US"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Arial Unicode MS"/>
              </a:rPr>
              <a:t>app/services/study_plan_service.py</a:t>
            </a:r>
            <a:r>
              <a:rPr kumimoji="0" lang="en-US" altLang="en-US" i="0" u="none" strike="noStrike" cap="none" normalizeH="0" baseline="0" dirty="0" smtClean="0">
                <a:ln>
                  <a:noFill/>
                </a:ln>
                <a:solidFill>
                  <a:schemeClr val="tx1"/>
                </a:solidFill>
                <a:effectLst/>
              </a:rPr>
              <a:t> </a:t>
            </a:r>
            <a:endParaRPr kumimoji="0" lang="en-US" altLang="en-US"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Arial Unicode MS"/>
              </a:rPr>
              <a:t>app/services/search_service.py</a:t>
            </a:r>
            <a:r>
              <a:rPr kumimoji="0" lang="en-US" altLang="en-US" i="0" u="none" strike="noStrike" cap="none" normalizeH="0" baseline="0" dirty="0" smtClean="0">
                <a:ln>
                  <a:noFill/>
                </a:ln>
                <a:solidFill>
                  <a:schemeClr val="tx1"/>
                </a:solidFill>
                <a:effectLst/>
              </a:rPr>
              <a:t> </a:t>
            </a:r>
            <a:endParaRPr kumimoji="0" lang="en-US" altLang="en-US"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Utilities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Arial Unicode MS"/>
              </a:rPr>
              <a:t>app/utils/text_utils.py</a:t>
            </a:r>
            <a:r>
              <a:rPr kumimoji="0" lang="en-US" altLang="en-US" i="0" u="none" strike="noStrike" cap="none" normalizeH="0" baseline="0" dirty="0" smtClean="0">
                <a:ln>
                  <a:noFill/>
                </a:ln>
                <a:solidFill>
                  <a:schemeClr val="tx1"/>
                </a:solidFill>
                <a:effectLst/>
              </a:rPr>
              <a:t> </a:t>
            </a:r>
            <a:endParaRPr kumimoji="0" lang="en-US" altLang="en-US"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Configuration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Arial Unicode MS"/>
              </a:rPr>
              <a:t>app/config.py</a:t>
            </a:r>
            <a:r>
              <a:rPr kumimoji="0" lang="en-US" altLang="en-US" i="0" u="none" strike="noStrike" cap="none" normalizeH="0" baseline="0" dirty="0" smtClean="0">
                <a:ln>
                  <a:noFill/>
                </a:ln>
                <a:solidFill>
                  <a:schemeClr val="tx1"/>
                </a:solidFill>
                <a:effectLst/>
              </a:rPr>
              <a:t> </a:t>
            </a:r>
            <a:endParaRPr kumimoji="0" lang="en-US" altLang="en-US"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Tests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Arial Unicode MS"/>
              </a:rPr>
              <a:t>tests/test_main.py</a:t>
            </a:r>
            <a:r>
              <a:rPr kumimoji="0" lang="en-US" altLang="en-US" i="0" u="none" strike="noStrike" cap="none" normalizeH="0" baseline="0" dirty="0" smtClean="0">
                <a:ln>
                  <a:noFill/>
                </a:ln>
                <a:solidFill>
                  <a:schemeClr val="tx1"/>
                </a:solidFill>
                <a:effectLst/>
              </a:rPr>
              <a:t> </a:t>
            </a:r>
            <a:endParaRPr kumimoji="0" lang="en-US" altLang="en-US"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Arial Unicode MS"/>
              </a:rPr>
              <a:t>tests/test_services.py</a:t>
            </a:r>
            <a:endParaRPr kumimoji="0" lang="en-US" altLang="en-US"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149636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0000" r="-20000"/>
          </a:stretch>
        </a:blipFill>
        <a:effectLst/>
      </p:bgPr>
    </p:bg>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a:effectLst>
            <a:glow rad="63500">
              <a:schemeClr val="accent3">
                <a:satMod val="175000"/>
                <a:alpha val="40000"/>
              </a:schemeClr>
            </a:glow>
            <a:outerShdw blurRad="44450" dist="27940" dir="5400000" algn="ctr">
              <a:srgbClr val="000000">
                <a:alpha val="32000"/>
              </a:srgbClr>
            </a:outerShdw>
          </a:effectLst>
          <a:scene3d>
            <a:camera prst="obliqueTopRight"/>
            <a:lightRig rig="balanced" dir="t">
              <a:rot lat="0" lon="0" rev="8700000"/>
            </a:lightRig>
          </a:scene3d>
          <a:sp3d>
            <a:bevelT w="190500" h="38100"/>
          </a:sp3d>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6771" y="1113616"/>
            <a:ext cx="10447185" cy="5550067"/>
          </a:xfrm>
          <a:prstGeom prst="rect">
            <a:avLst/>
          </a:prstGeom>
          <a:ln>
            <a:noFill/>
          </a:ln>
          <a:effectLst>
            <a:outerShdw blurRad="44450" dist="27940" dir="5400000" algn="ctr">
              <a:srgbClr val="000000">
                <a:alpha val="32000"/>
              </a:srgbClr>
            </a:outerShdw>
          </a:effectLst>
          <a:scene3d>
            <a:camera prst="obliqueTopRight"/>
            <a:lightRig rig="balanced" dir="t">
              <a:rot lat="0" lon="0" rev="8700000"/>
            </a:lightRig>
          </a:scene3d>
          <a:sp3d>
            <a:bevelT w="190500" h="38100"/>
          </a:sp3d>
        </p:spPr>
      </p:pic>
    </p:spTree>
    <p:extLst>
      <p:ext uri="{BB962C8B-B14F-4D97-AF65-F5344CB8AC3E}">
        <p14:creationId xmlns:p14="http://schemas.microsoft.com/office/powerpoint/2010/main" val="13165455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lumMod val="60000"/>
            <a:lumOff val="40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766" y="650240"/>
            <a:ext cx="11916468" cy="6090118"/>
          </a:xfrm>
          <a:prstGeom prst="rect">
            <a:avLst/>
          </a:prstGeom>
          <a:solidFill>
            <a:schemeClr val="bg2">
              <a:lumMod val="60000"/>
              <a:lumOff val="40000"/>
              <a:alpha val="99000"/>
            </a:schemeClr>
          </a:solidFill>
        </p:spPr>
      </p:pic>
      <p:sp>
        <p:nvSpPr>
          <p:cNvPr id="3" name="TextBox 2"/>
          <p:cNvSpPr txBox="1"/>
          <p:nvPr/>
        </p:nvSpPr>
        <p:spPr>
          <a:xfrm>
            <a:off x="137766" y="0"/>
            <a:ext cx="5689600" cy="523220"/>
          </a:xfrm>
          <a:prstGeom prst="rect">
            <a:avLst/>
          </a:prstGeom>
          <a:solidFill>
            <a:schemeClr val="bg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IN" sz="2800" dirty="0" smtClean="0"/>
              <a:t>MAIN PAGE:---</a:t>
            </a:r>
            <a:endParaRPr lang="en-IN" sz="2800" dirty="0"/>
          </a:p>
        </p:txBody>
      </p:sp>
    </p:spTree>
    <p:extLst>
      <p:ext uri="{BB962C8B-B14F-4D97-AF65-F5344CB8AC3E}">
        <p14:creationId xmlns:p14="http://schemas.microsoft.com/office/powerpoint/2010/main" val="2323718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4000" r="-14000"/>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1" y="133349"/>
            <a:ext cx="5634305" cy="3097532"/>
          </a:xfrm>
          <a:prstGeom prst="rect">
            <a:avLst/>
          </a:prstGeo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65495" t="11931" r="-220" b="10411"/>
          <a:stretch/>
        </p:blipFill>
        <p:spPr>
          <a:xfrm>
            <a:off x="8721773" y="133349"/>
            <a:ext cx="2407920" cy="2727960"/>
          </a:xfrm>
          <a:prstGeom prst="rect">
            <a:avLst/>
          </a:prstGeom>
        </p:spPr>
      </p:pic>
      <p:sp>
        <p:nvSpPr>
          <p:cNvPr id="8" name="Freeform 7"/>
          <p:cNvSpPr/>
          <p:nvPr/>
        </p:nvSpPr>
        <p:spPr>
          <a:xfrm rot="5400000">
            <a:off x="6660118" y="401955"/>
            <a:ext cx="1157763" cy="2560319"/>
          </a:xfrm>
          <a:custGeom>
            <a:avLst/>
            <a:gdLst>
              <a:gd name="connsiteX0" fmla="*/ 0 w 1157763"/>
              <a:gd name="connsiteY0" fmla="*/ 405217 h 1157763"/>
              <a:gd name="connsiteX1" fmla="*/ 578882 w 1157763"/>
              <a:gd name="connsiteY1" fmla="*/ 0 h 1157763"/>
              <a:gd name="connsiteX2" fmla="*/ 1157763 w 1157763"/>
              <a:gd name="connsiteY2" fmla="*/ 405217 h 1157763"/>
              <a:gd name="connsiteX3" fmla="*/ 868322 w 1157763"/>
              <a:gd name="connsiteY3" fmla="*/ 405217 h 1157763"/>
              <a:gd name="connsiteX4" fmla="*/ 868322 w 1157763"/>
              <a:gd name="connsiteY4" fmla="*/ 1157763 h 1157763"/>
              <a:gd name="connsiteX5" fmla="*/ 289441 w 1157763"/>
              <a:gd name="connsiteY5" fmla="*/ 1157763 h 1157763"/>
              <a:gd name="connsiteX6" fmla="*/ 289441 w 1157763"/>
              <a:gd name="connsiteY6" fmla="*/ 405217 h 1157763"/>
              <a:gd name="connsiteX7" fmla="*/ 0 w 1157763"/>
              <a:gd name="connsiteY7" fmla="*/ 405217 h 1157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7763" h="1157763">
                <a:moveTo>
                  <a:pt x="0" y="405217"/>
                </a:moveTo>
                <a:lnTo>
                  <a:pt x="578882" y="0"/>
                </a:lnTo>
                <a:lnTo>
                  <a:pt x="1157763" y="405217"/>
                </a:lnTo>
                <a:lnTo>
                  <a:pt x="868322" y="405217"/>
                </a:lnTo>
                <a:lnTo>
                  <a:pt x="868322" y="1157763"/>
                </a:lnTo>
                <a:lnTo>
                  <a:pt x="289441" y="1157763"/>
                </a:lnTo>
                <a:lnTo>
                  <a:pt x="289441" y="405217"/>
                </a:lnTo>
                <a:lnTo>
                  <a:pt x="0" y="405217"/>
                </a:lnTo>
                <a:close/>
              </a:path>
            </a:pathLst>
          </a:custGeom>
          <a:solidFill>
            <a:schemeClr val="accent1">
              <a:lumMod val="60000"/>
              <a:lumOff val="40000"/>
            </a:schemeClr>
          </a:solidFill>
          <a:ln>
            <a:solidFill>
              <a:schemeClr val="tx1"/>
            </a:solidFill>
          </a:ln>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374785" tIns="287953" rIns="374785" bIns="85344" numCol="1" spcCol="1270" anchor="ctr" anchorCtr="0">
            <a:noAutofit/>
          </a:bodyPr>
          <a:lstStyle/>
          <a:p>
            <a:pPr lvl="0" algn="ctr" defTabSz="533400">
              <a:lnSpc>
                <a:spcPct val="90000"/>
              </a:lnSpc>
              <a:spcBef>
                <a:spcPct val="0"/>
              </a:spcBef>
              <a:spcAft>
                <a:spcPct val="35000"/>
              </a:spcAft>
            </a:pPr>
            <a:endParaRPr lang="en-US" sz="1200" kern="1200" dirty="0"/>
          </a:p>
        </p:txBody>
      </p:sp>
      <p:sp>
        <p:nvSpPr>
          <p:cNvPr id="9" name="TextBox 8"/>
          <p:cNvSpPr txBox="1"/>
          <p:nvPr/>
        </p:nvSpPr>
        <p:spPr>
          <a:xfrm>
            <a:off x="7014893" y="2907715"/>
            <a:ext cx="475038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800" b="1" dirty="0" smtClean="0"/>
              <a:t>Prompt that was given to bob </a:t>
            </a:r>
            <a:r>
              <a:rPr lang="en-IN" sz="1800" b="1" dirty="0" err="1" smtClean="0"/>
              <a:t>ai</a:t>
            </a:r>
            <a:r>
              <a:rPr lang="en-IN" sz="1800" b="1" dirty="0" smtClean="0"/>
              <a:t> to perform the task</a:t>
            </a:r>
            <a:endParaRPr lang="en-IN" sz="1800" b="1" dirty="0"/>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921" y="3647559"/>
            <a:ext cx="5634305" cy="3088522"/>
          </a:xfrm>
          <a:prstGeom prst="rect">
            <a:avLst/>
          </a:prstGeom>
        </p:spPr>
      </p:pic>
      <p:sp>
        <p:nvSpPr>
          <p:cNvPr id="12" name="Notched Right Arrow 11"/>
          <p:cNvSpPr/>
          <p:nvPr/>
        </p:nvSpPr>
        <p:spPr>
          <a:xfrm>
            <a:off x="6096000" y="4739640"/>
            <a:ext cx="1142999" cy="731520"/>
          </a:xfrm>
          <a:prstGeom prst="notchedRightArrow">
            <a:avLst/>
          </a:prstGeom>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Cloud Callout 13"/>
          <p:cNvSpPr/>
          <p:nvPr/>
        </p:nvSpPr>
        <p:spPr>
          <a:xfrm>
            <a:off x="7238999" y="3870960"/>
            <a:ext cx="4750388" cy="1965960"/>
          </a:xfrm>
          <a:prstGeom prst="cloud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3" name="TextBox 12"/>
          <p:cNvSpPr txBox="1"/>
          <p:nvPr/>
        </p:nvSpPr>
        <p:spPr>
          <a:xfrm>
            <a:off x="7650480" y="4343400"/>
            <a:ext cx="3479213" cy="307777"/>
          </a:xfrm>
          <a:prstGeom prst="rect">
            <a:avLst/>
          </a:prstGeom>
          <a:noFill/>
        </p:spPr>
        <p:txBody>
          <a:bodyPr wrap="square" rtlCol="0">
            <a:spAutoFit/>
          </a:bodyPr>
          <a:lstStyle/>
          <a:p>
            <a:r>
              <a:rPr lang="en-IN" dirty="0" smtClean="0"/>
              <a:t>There were 49 test cases and all passed </a:t>
            </a:r>
            <a:endParaRPr lang="en-IN" dirty="0"/>
          </a:p>
        </p:txBody>
      </p:sp>
    </p:spTree>
    <p:extLst>
      <p:ext uri="{BB962C8B-B14F-4D97-AF65-F5344CB8AC3E}">
        <p14:creationId xmlns:p14="http://schemas.microsoft.com/office/powerpoint/2010/main" val="26420365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9" name="Diagram 8"/>
          <p:cNvGraphicFramePr/>
          <p:nvPr>
            <p:extLst>
              <p:ext uri="{D42A27DB-BD31-4B8C-83A1-F6EECF244321}">
                <p14:modId xmlns:p14="http://schemas.microsoft.com/office/powerpoint/2010/main" val="1169828189"/>
              </p:ext>
            </p:extLst>
          </p:nvPr>
        </p:nvGraphicFramePr>
        <p:xfrm>
          <a:off x="1886528"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13553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lumMod val="60000"/>
            <a:lumOff val="40000"/>
          </a:schemeClr>
        </a:solidFill>
        <a:effectLst/>
      </p:bgPr>
    </p:bg>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289247" y="99719"/>
            <a:ext cx="5908929" cy="448508"/>
          </a:xfrm>
          <a:prstGeom prst="rect">
            <a:avLst/>
          </a:prstGeom>
          <a:solidFill>
            <a:schemeClr val="bg2">
              <a:lumMod val="40000"/>
              <a:lumOff val="60000"/>
            </a:schemeClr>
          </a:solidFill>
          <a:ln>
            <a:solidFill>
              <a:schemeClr val="accent1">
                <a:lumMod val="5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spcFirstLastPara="1" wrap="square" lIns="0" tIns="0" rIns="0" bIns="0" anchor="t" anchorCtr="0">
            <a:noAutofit/>
          </a:bodyPr>
          <a:lstStyle/>
          <a:p>
            <a:pPr lvl="0"/>
            <a:r>
              <a:rPr lang="en-US" sz="2400" b="1" u="sng" dirty="0">
                <a:solidFill>
                  <a:schemeClr val="accent1">
                    <a:lumMod val="50000"/>
                  </a:schemeClr>
                </a:solidFill>
                <a:latin typeface="Calibri"/>
                <a:ea typeface="Calibri"/>
                <a:cs typeface="Calibri"/>
                <a:sym typeface="Calibri"/>
              </a:rPr>
              <a:t>Architecture blueprint for IBM bob</a:t>
            </a:r>
            <a:r>
              <a:rPr lang="en-US" sz="2400" b="1" u="sng" dirty="0" smtClean="0">
                <a:solidFill>
                  <a:schemeClr val="accent1">
                    <a:lumMod val="50000"/>
                  </a:schemeClr>
                </a:solidFill>
                <a:latin typeface="Calibri"/>
                <a:ea typeface="Calibri"/>
                <a:cs typeface="Calibri"/>
                <a:sym typeface="Calibri"/>
              </a:rPr>
              <a:t>:----</a:t>
            </a:r>
            <a:endParaRPr lang="en-US" sz="2400" u="sng" dirty="0">
              <a:solidFill>
                <a:schemeClr val="accent1">
                  <a:lumMod val="50000"/>
                </a:schemeClr>
              </a:solidFill>
            </a:endParaRP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19295" t="6563" r="15861" b="12242"/>
          <a:stretch/>
        </p:blipFill>
        <p:spPr>
          <a:xfrm>
            <a:off x="289247" y="771747"/>
            <a:ext cx="11747243" cy="6086253"/>
          </a:xfrm>
          <a:prstGeom prst="rect">
            <a:avLst/>
          </a:prstGeom>
        </p:spPr>
      </p:pic>
    </p:spTree>
    <p:extLst>
      <p:ext uri="{BB962C8B-B14F-4D97-AF65-F5344CB8AC3E}">
        <p14:creationId xmlns:p14="http://schemas.microsoft.com/office/powerpoint/2010/main" val="4451951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lumMod val="60000"/>
            <a:lumOff val="40000"/>
          </a:schemeClr>
        </a:solidFill>
        <a:effectLst/>
      </p:bgPr>
    </p:bg>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68826" y="-100137"/>
            <a:ext cx="6590071" cy="523220"/>
          </a:xfrm>
          <a:prstGeom prst="rect">
            <a:avLst/>
          </a:prstGeom>
          <a:solidFill>
            <a:schemeClr val="accent1">
              <a:lumMod val="40000"/>
              <a:lumOff val="60000"/>
            </a:schemeClr>
          </a:solidFill>
        </p:spPr>
        <p:txBody>
          <a:bodyPr wrap="square" rtlCol="0">
            <a:spAutoFit/>
          </a:bodyPr>
          <a:lstStyle/>
          <a:p>
            <a:r>
              <a:rPr lang="en-US" sz="2800" b="1" dirty="0"/>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334297" y="497800"/>
            <a:ext cx="6324600" cy="5940088"/>
          </a:xfrm>
          <a:prstGeom prst="rect">
            <a:avLst/>
          </a:prstGeom>
          <a:solidFill>
            <a:schemeClr val="bg2">
              <a:lumMod val="40000"/>
              <a:lumOff val="60000"/>
            </a:schemeClr>
          </a:solidFill>
        </p:spPr>
        <p:txBody>
          <a:bodyPr wrap="square" rtlCol="0">
            <a:spAutoFit/>
          </a:bodyPr>
          <a:lstStyle/>
          <a:p>
            <a:r>
              <a:rPr lang="en-US" sz="2000" b="1" dirty="0"/>
              <a:t>Role of Agentic AI in </a:t>
            </a:r>
            <a:r>
              <a:rPr lang="en-US" sz="2000" b="1" dirty="0" err="1" smtClean="0"/>
              <a:t>ScholarAI</a:t>
            </a:r>
            <a:endParaRPr lang="en-US" sz="2000" b="1" dirty="0" smtClean="0"/>
          </a:p>
          <a:p>
            <a:endParaRPr lang="en-US" sz="2000" b="1" dirty="0"/>
          </a:p>
          <a:p>
            <a:r>
              <a:rPr lang="en-US" sz="2000" b="1" dirty="0"/>
              <a:t>Agentic AI</a:t>
            </a:r>
            <a:r>
              <a:rPr lang="en-US" sz="2000" dirty="0"/>
              <a:t> enables </a:t>
            </a:r>
            <a:r>
              <a:rPr lang="en-US" sz="2000" dirty="0" err="1"/>
              <a:t>ScholarAI</a:t>
            </a:r>
            <a:r>
              <a:rPr lang="en-US" sz="2000" dirty="0"/>
              <a:t> to work as an intelligent study companion instead of a simple note summarizer. </a:t>
            </a:r>
          </a:p>
          <a:p>
            <a:r>
              <a:rPr lang="en-US" sz="2000" dirty="0"/>
              <a:t>It coordinates multiple specialized services such as </a:t>
            </a:r>
            <a:r>
              <a:rPr lang="en-US" sz="2000" b="1" dirty="0"/>
              <a:t>Research Search</a:t>
            </a:r>
            <a:r>
              <a:rPr lang="en-US" sz="2000" dirty="0"/>
              <a:t>, </a:t>
            </a:r>
            <a:r>
              <a:rPr lang="en-US" sz="2000" b="1" dirty="0"/>
              <a:t>Study Summary</a:t>
            </a:r>
            <a:r>
              <a:rPr lang="en-US" sz="2000" dirty="0"/>
              <a:t>, </a:t>
            </a:r>
            <a:r>
              <a:rPr lang="en-US" sz="2000" b="1" dirty="0"/>
              <a:t>Flashcards</a:t>
            </a:r>
            <a:r>
              <a:rPr lang="en-US" sz="2000" dirty="0"/>
              <a:t>, </a:t>
            </a:r>
            <a:r>
              <a:rPr lang="en-US" sz="2000" b="1" dirty="0"/>
              <a:t>Quiz Generation</a:t>
            </a:r>
            <a:r>
              <a:rPr lang="en-US" sz="2000" dirty="0"/>
              <a:t>, and </a:t>
            </a:r>
            <a:r>
              <a:rPr lang="en-US" sz="2000" b="1" dirty="0" smtClean="0"/>
              <a:t>Study </a:t>
            </a:r>
            <a:r>
              <a:rPr lang="en-US" sz="2000" b="1" dirty="0"/>
              <a:t>Plan</a:t>
            </a:r>
            <a:r>
              <a:rPr lang="en-US" sz="2000" dirty="0"/>
              <a:t>. </a:t>
            </a:r>
          </a:p>
          <a:p>
            <a:r>
              <a:rPr lang="en-US" sz="2000" dirty="0"/>
              <a:t>Each service performs a specific task and passes its </a:t>
            </a:r>
            <a:r>
              <a:rPr lang="en-US" sz="2000" dirty="0" smtClean="0"/>
              <a:t>output the </a:t>
            </a:r>
            <a:r>
              <a:rPr lang="en-US" sz="2000" dirty="0"/>
              <a:t>the next, creating an </a:t>
            </a:r>
            <a:r>
              <a:rPr lang="en-US" sz="2000" b="1" dirty="0"/>
              <a:t>automated learning workflow</a:t>
            </a:r>
            <a:r>
              <a:rPr lang="en-US" sz="2000" dirty="0"/>
              <a:t>. </a:t>
            </a:r>
          </a:p>
          <a:p>
            <a:r>
              <a:rPr lang="en-US" sz="2000" dirty="0"/>
              <a:t>The modular architecture is designed for future integration </a:t>
            </a:r>
            <a:r>
              <a:rPr lang="en-US" sz="2000" dirty="0" smtClean="0"/>
              <a:t>with </a:t>
            </a:r>
            <a:r>
              <a:rPr lang="en-US" sz="2000" b="1" dirty="0" smtClean="0"/>
              <a:t>IBM </a:t>
            </a:r>
            <a:r>
              <a:rPr lang="en-US" sz="2000" b="1" dirty="0"/>
              <a:t>Granite Models</a:t>
            </a:r>
            <a:r>
              <a:rPr lang="en-US" sz="2000" dirty="0"/>
              <a:t> to provide advanced reasoning </a:t>
            </a:r>
            <a:r>
              <a:rPr lang="en-US" sz="2000" dirty="0" smtClean="0"/>
              <a:t>and personalized </a:t>
            </a:r>
            <a:r>
              <a:rPr lang="en-US" sz="2000" dirty="0"/>
              <a:t>content generation. </a:t>
            </a:r>
          </a:p>
          <a:p>
            <a:r>
              <a:rPr lang="en-US" sz="2000" b="1" dirty="0"/>
              <a:t>IBM </a:t>
            </a:r>
            <a:r>
              <a:rPr lang="en-US" sz="2000" b="1" dirty="0" err="1"/>
              <a:t>watsonx</a:t>
            </a:r>
            <a:r>
              <a:rPr lang="en-US" sz="2000" b="1" dirty="0"/>
              <a:t> Orchestrate</a:t>
            </a:r>
            <a:r>
              <a:rPr lang="en-US" sz="2000" dirty="0"/>
              <a:t> can coordinate these </a:t>
            </a:r>
            <a:r>
              <a:rPr lang="en-US" sz="2000" dirty="0" smtClean="0"/>
              <a:t>services as </a:t>
            </a:r>
            <a:r>
              <a:rPr lang="en-US" sz="2000" dirty="0"/>
              <a:t>intelligent agents, enabling context-aware and </a:t>
            </a:r>
            <a:r>
              <a:rPr lang="en-US" sz="2000" dirty="0" smtClean="0"/>
              <a:t>scalable </a:t>
            </a:r>
            <a:r>
              <a:rPr lang="en-US" sz="2000" dirty="0"/>
              <a:t>learning experiences. </a:t>
            </a:r>
          </a:p>
          <a:p>
            <a:r>
              <a:rPr lang="en-US" sz="2000" dirty="0"/>
              <a:t>This approach delivers </a:t>
            </a:r>
            <a:r>
              <a:rPr lang="en-US" sz="2000" b="1" dirty="0"/>
              <a:t>personalized, adaptive, and </a:t>
            </a:r>
            <a:endParaRPr lang="en-US" sz="2000" b="1" dirty="0" smtClean="0"/>
          </a:p>
          <a:p>
            <a:r>
              <a:rPr lang="en-US" sz="2000" b="1" dirty="0" smtClean="0"/>
              <a:t>efficient </a:t>
            </a:r>
            <a:r>
              <a:rPr lang="en-US" sz="2000" b="1" dirty="0"/>
              <a:t>study support</a:t>
            </a:r>
            <a:r>
              <a:rPr lang="en-US" sz="2000" dirty="0"/>
              <a:t> for students.</a:t>
            </a: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25116" t="6780" r="25998" b="6402"/>
          <a:stretch/>
        </p:blipFill>
        <p:spPr>
          <a:xfrm>
            <a:off x="6993194" y="161473"/>
            <a:ext cx="4608000" cy="6294120"/>
          </a:xfrm>
          <a:prstGeom prst="rect">
            <a:avLst/>
          </a:prstGeom>
        </p:spPr>
      </p:pic>
    </p:spTree>
    <p:extLst>
      <p:ext uri="{BB962C8B-B14F-4D97-AF65-F5344CB8AC3E}">
        <p14:creationId xmlns:p14="http://schemas.microsoft.com/office/powerpoint/2010/main" val="40006969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569625"/>
          </a:xfrm>
          <a:prstGeom prst="rect">
            <a:avLst/>
          </a:prstGeom>
          <a:solidFill>
            <a:schemeClr val="bg1">
              <a:lumMod val="95000"/>
            </a:schemeClr>
          </a:solidFill>
          <a:ln>
            <a:solidFill>
              <a:schemeClr val="accent1">
                <a:lumMod val="50000"/>
              </a:schemeClr>
            </a:solidFill>
          </a:ln>
          <a:scene3d>
            <a:camera prst="obliqueTopRight"/>
            <a:lightRig rig="threePt" dir="t"/>
          </a:scene3d>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793192" y="987712"/>
            <a:ext cx="4371171" cy="307777"/>
          </a:xfrm>
          <a:prstGeom prst="rect">
            <a:avLst/>
          </a:prstGeom>
          <a:solidFill>
            <a:schemeClr val="bg2">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About </a:t>
            </a:r>
            <a:r>
              <a:rPr lang="en-US" b="1" dirty="0"/>
              <a:t>47,047 tokens</a:t>
            </a:r>
            <a:r>
              <a:rPr lang="en-US" dirty="0"/>
              <a:t> were used in that range.</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solidFill>
            <a:schemeClr val="bg2">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solidFill>
            <a:schemeClr val="bg2">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After the Prompt</a:t>
            </a:r>
          </a:p>
        </p:txBody>
      </p:sp>
      <p:pic>
        <p:nvPicPr>
          <p:cNvPr id="2" name="Picture 1"/>
          <p:cNvPicPr>
            <a:picLocks noChangeAspect="1"/>
          </p:cNvPicPr>
          <p:nvPr/>
        </p:nvPicPr>
        <p:blipFill rotWithShape="1">
          <a:blip r:embed="rId4">
            <a:extLst>
              <a:ext uri="{28A0092B-C50C-407E-A947-70E740481C1C}">
                <a14:useLocalDpi xmlns:a14="http://schemas.microsoft.com/office/drawing/2010/main" val="0"/>
              </a:ext>
            </a:extLst>
          </a:blip>
          <a:srcRect l="-380" t="6663" r="2032"/>
          <a:stretch/>
        </p:blipFill>
        <p:spPr>
          <a:xfrm>
            <a:off x="135081" y="2310224"/>
            <a:ext cx="5893180" cy="3580039"/>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2362264"/>
            <a:ext cx="5458771" cy="3528000"/>
          </a:xfrm>
          <a:prstGeom prst="rect">
            <a:avLst/>
          </a:prstGeom>
        </p:spPr>
      </p:pic>
    </p:spTree>
    <p:extLst>
      <p:ext uri="{BB962C8B-B14F-4D97-AF65-F5344CB8AC3E}">
        <p14:creationId xmlns:p14="http://schemas.microsoft.com/office/powerpoint/2010/main" val="8934170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lumMod val="60000"/>
            <a:lumOff val="40000"/>
          </a:schemeClr>
        </a:solidFill>
        <a:effectLst/>
      </p:bgPr>
    </p:bg>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a:t>
            </a:r>
            <a:r>
              <a:rPr lang="en-US" sz="2400" b="1" u="sng" dirty="0">
                <a:effectLst>
                  <a:outerShdw blurRad="38100" dist="38100" dir="2700000" algn="tl">
                    <a:srgbClr val="000000">
                      <a:alpha val="43137"/>
                    </a:srgbClr>
                  </a:outerShdw>
                </a:effectLst>
                <a:sym typeface="Times New Roman"/>
              </a:rPr>
              <a:t>Project Output </a:t>
            </a:r>
            <a:r>
              <a:rPr lang="en-US" sz="2400" b="1" u="sng" dirty="0" smtClean="0">
                <a:effectLst>
                  <a:outerShdw blurRad="38100" dist="38100" dir="2700000" algn="tl">
                    <a:srgbClr val="000000">
                      <a:alpha val="43137"/>
                    </a:srgbClr>
                  </a:outerShdw>
                </a:effectLst>
                <a:sym typeface="Times New Roman"/>
              </a:rPr>
              <a:t>Screenshot:--</a:t>
            </a:r>
            <a:endParaRPr sz="2400" b="1" u="sng" dirty="0">
              <a:effectLst>
                <a:outerShdw blurRad="38100" dist="38100" dir="2700000" algn="tl">
                  <a:srgbClr val="000000">
                    <a:alpha val="43137"/>
                  </a:srgbClr>
                </a:outerShdw>
              </a:effectLst>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5024" y="1263445"/>
            <a:ext cx="10058400" cy="5343525"/>
          </a:xfrm>
          <a:prstGeom prst="rect">
            <a:avLst/>
          </a:prstGeom>
        </p:spPr>
      </p:pic>
    </p:spTree>
    <p:extLst>
      <p:ext uri="{BB962C8B-B14F-4D97-AF65-F5344CB8AC3E}">
        <p14:creationId xmlns:p14="http://schemas.microsoft.com/office/powerpoint/2010/main" val="14299618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lumMod val="60000"/>
            <a:lumOff val="40000"/>
          </a:schemeClr>
        </a:solidFill>
        <a:effectLst/>
      </p:bgPr>
    </p:bg>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2024" y="112959"/>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a:t>
            </a:r>
            <a:r>
              <a:rPr lang="en-US" sz="2400" b="1" u="sng" dirty="0">
                <a:effectLst>
                  <a:outerShdw blurRad="38100" dist="38100" dir="2700000" algn="tl">
                    <a:srgbClr val="000000">
                      <a:alpha val="43137"/>
                    </a:srgbClr>
                  </a:outerShdw>
                </a:effectLst>
                <a:sym typeface="Times New Roman"/>
              </a:rPr>
              <a:t>Project Output </a:t>
            </a:r>
            <a:r>
              <a:rPr lang="en-US" sz="2400" b="1" u="sng" dirty="0" smtClean="0">
                <a:effectLst>
                  <a:outerShdw blurRad="38100" dist="38100" dir="2700000" algn="tl">
                    <a:srgbClr val="000000">
                      <a:alpha val="43137"/>
                    </a:srgbClr>
                  </a:outerShdw>
                </a:effectLst>
                <a:sym typeface="Times New Roman"/>
              </a:rPr>
              <a:t>Screenshot:--</a:t>
            </a:r>
            <a:endParaRPr sz="2400" b="1" u="sng" dirty="0">
              <a:effectLst>
                <a:outerShdw blurRad="38100" dist="38100" dir="2700000" algn="tl">
                  <a:srgbClr val="000000">
                    <a:alpha val="43137"/>
                  </a:srgbClr>
                </a:outerShdw>
              </a:effectLst>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16977"/>
            <a:ext cx="6329680" cy="4863465"/>
          </a:xfrm>
          <a:prstGeom prst="rect">
            <a:avLst/>
          </a:prstGeom>
        </p:spPr>
      </p:pic>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t="4510"/>
          <a:stretch/>
        </p:blipFill>
        <p:spPr>
          <a:xfrm>
            <a:off x="6563360" y="816976"/>
            <a:ext cx="5537200" cy="4863465"/>
          </a:xfrm>
          <a:prstGeom prst="rect">
            <a:avLst/>
          </a:prstGeom>
        </p:spPr>
      </p:pic>
    </p:spTree>
    <p:extLst>
      <p:ext uri="{BB962C8B-B14F-4D97-AF65-F5344CB8AC3E}">
        <p14:creationId xmlns:p14="http://schemas.microsoft.com/office/powerpoint/2010/main" val="35850923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lumMod val="60000"/>
            <a:lumOff val="40000"/>
          </a:schemeClr>
        </a:solidFill>
        <a:effectLst/>
      </p:bgPr>
    </p:bg>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a:t>
            </a:r>
            <a:r>
              <a:rPr lang="en-US" sz="2400" b="1" u="sng" dirty="0">
                <a:sym typeface="Times New Roman"/>
              </a:rPr>
              <a:t>Project Output </a:t>
            </a:r>
            <a:r>
              <a:rPr lang="en-US" sz="2400" b="1" u="sng" dirty="0" smtClean="0">
                <a:sym typeface="Times New Roman"/>
              </a:rPr>
              <a:t>Screenshot:--</a:t>
            </a:r>
            <a:endParaRPr sz="2400" b="1" u="sng"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20" y="1183235"/>
            <a:ext cx="6289040" cy="5343525"/>
          </a:xfrm>
          <a:prstGeom prst="rect">
            <a:avLst/>
          </a:prstGeom>
          <a:scene3d>
            <a:camera prst="obliqueTopRight"/>
            <a:lightRig rig="threePt" dir="t"/>
          </a:scene3d>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1280" y="1183236"/>
            <a:ext cx="5760720" cy="5343525"/>
          </a:xfrm>
          <a:prstGeom prst="rect">
            <a:avLst/>
          </a:prstGeom>
          <a:scene3d>
            <a:camera prst="obliqueTopRight"/>
            <a:lightRig rig="threePt" dir="t"/>
          </a:scene3d>
        </p:spPr>
      </p:pic>
    </p:spTree>
    <p:extLst>
      <p:ext uri="{BB962C8B-B14F-4D97-AF65-F5344CB8AC3E}">
        <p14:creationId xmlns:p14="http://schemas.microsoft.com/office/powerpoint/2010/main" val="260190718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bg>
      <p:bgPr>
        <a:blipFill>
          <a:blip r:embed="rId3"/>
          <a:stretch>
            <a:fillRect/>
          </a:stretch>
        </a:blipFill>
        <a:effectLst/>
      </p:bgPr>
    </p:bg>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65F54F-855A-0DB6-09A6-3212C5F7405B}"/>
              </a:ext>
            </a:extLst>
          </p:cNvPr>
          <p:cNvSpPr txBox="1"/>
          <p:nvPr/>
        </p:nvSpPr>
        <p:spPr>
          <a:xfrm>
            <a:off x="197137" y="1207008"/>
            <a:ext cx="11301984" cy="5293757"/>
          </a:xfrm>
          <a:prstGeom prst="rect">
            <a:avLst/>
          </a:prstGeom>
          <a:solidFill>
            <a:schemeClr val="bg1">
              <a:lumMod val="85000"/>
            </a:schemeClr>
          </a:solidFill>
          <a:ln>
            <a:noFill/>
          </a:ln>
          <a:effectLst>
            <a:glow rad="63500">
              <a:schemeClr val="accent3">
                <a:satMod val="175000"/>
                <a:alpha val="40000"/>
              </a:schemeClr>
            </a:glow>
            <a:outerShdw blurRad="44450" dist="27940" dir="5400000" algn="ctr">
              <a:srgbClr val="000000">
                <a:alpha val="32000"/>
              </a:srgbClr>
            </a:outerShdw>
            <a:softEdge rad="165100"/>
          </a:effectLst>
          <a:scene3d>
            <a:camera prst="orthographicFront">
              <a:rot lat="0" lon="0" rev="0"/>
            </a:camera>
            <a:lightRig rig="balanced" dir="t">
              <a:rot lat="0" lon="0" rev="8700000"/>
            </a:lightRig>
          </a:scene3d>
          <a:sp3d z="-57150">
            <a:bevelT w="190500" h="38100"/>
          </a:sp3d>
        </p:spPr>
        <p:txBody>
          <a:bodyPr wrap="square" rtlCol="0">
            <a:spAutoFit/>
          </a:bodyPr>
          <a:lstStyle/>
          <a:p>
            <a:r>
              <a:rPr lang="en-IN" sz="1800" dirty="0">
                <a:solidFill>
                  <a:schemeClr val="tx1"/>
                </a:solidFill>
              </a:rPr>
              <a:t>The proposed Nutrition Agent stands out by combining </a:t>
            </a:r>
            <a:r>
              <a:rPr lang="en-IN" sz="1800" b="1" dirty="0">
                <a:solidFill>
                  <a:schemeClr val="tx1"/>
                </a:solidFill>
              </a:rPr>
              <a:t>Agentic AI, RAG, and personalization</a:t>
            </a:r>
            <a:r>
              <a:rPr lang="en-IN" sz="1800" dirty="0">
                <a:solidFill>
                  <a:schemeClr val="tx1"/>
                </a:solidFill>
              </a:rPr>
              <a:t> into a single intelligent system.</a:t>
            </a:r>
          </a:p>
          <a:p>
            <a:endParaRPr lang="en-IN" sz="1800" dirty="0">
              <a:solidFill>
                <a:schemeClr val="tx1"/>
              </a:solidFill>
            </a:endParaRPr>
          </a:p>
          <a:p>
            <a:r>
              <a:rPr lang="en-IN" sz="1800" b="1" u="sng" dirty="0">
                <a:solidFill>
                  <a:schemeClr val="tx1"/>
                </a:solidFill>
              </a:rPr>
              <a:t>Multi-Agent Intelligence</a:t>
            </a:r>
            <a:r>
              <a:rPr lang="en-IN" sz="1800" u="sng" dirty="0">
                <a:solidFill>
                  <a:schemeClr val="tx1"/>
                </a:solidFill>
              </a:rPr>
              <a:t> </a:t>
            </a:r>
            <a:r>
              <a:rPr lang="en-IN" sz="1800" dirty="0">
                <a:solidFill>
                  <a:schemeClr val="tx1"/>
                </a:solidFill>
              </a:rPr>
              <a:t>– Instead of a single </a:t>
            </a:r>
            <a:r>
              <a:rPr lang="en-IN" sz="1800" dirty="0" err="1">
                <a:solidFill>
                  <a:schemeClr val="tx1"/>
                </a:solidFill>
              </a:rPr>
              <a:t>chatbot</a:t>
            </a:r>
            <a:r>
              <a:rPr lang="en-IN" sz="1800" dirty="0">
                <a:solidFill>
                  <a:schemeClr val="tx1"/>
                </a:solidFill>
              </a:rPr>
              <a:t>, multiple specialized agents collaborate to deliver accurate and context-aware nutrition guidance. </a:t>
            </a:r>
          </a:p>
          <a:p>
            <a:r>
              <a:rPr lang="en-IN" sz="1800" b="1" u="sng" dirty="0">
                <a:solidFill>
                  <a:schemeClr val="tx1"/>
                </a:solidFill>
              </a:rPr>
              <a:t>RAG-Based Accuracy</a:t>
            </a:r>
            <a:r>
              <a:rPr lang="en-IN" sz="1800" u="sng" dirty="0">
                <a:solidFill>
                  <a:schemeClr val="tx1"/>
                </a:solidFill>
              </a:rPr>
              <a:t> </a:t>
            </a:r>
            <a:r>
              <a:rPr lang="en-IN" sz="1800" dirty="0">
                <a:solidFill>
                  <a:schemeClr val="tx1"/>
                </a:solidFill>
              </a:rPr>
              <a:t>– Integrates real-time data retrieval with AI generation, reducing misinformation and ensuring trustworthy recommendations. </a:t>
            </a:r>
          </a:p>
          <a:p>
            <a:r>
              <a:rPr lang="en-IN" sz="1800" b="1" u="sng" dirty="0">
                <a:solidFill>
                  <a:schemeClr val="tx1"/>
                </a:solidFill>
              </a:rPr>
              <a:t>Hyper-Personalization</a:t>
            </a:r>
            <a:r>
              <a:rPr lang="en-IN" sz="1800" u="sng" dirty="0">
                <a:solidFill>
                  <a:schemeClr val="tx1"/>
                </a:solidFill>
              </a:rPr>
              <a:t> </a:t>
            </a:r>
            <a:r>
              <a:rPr lang="en-IN" sz="1800" dirty="0">
                <a:solidFill>
                  <a:schemeClr val="tx1"/>
                </a:solidFill>
              </a:rPr>
              <a:t>– Tailors diet plans based on health conditions, cultural preferences, and fitness goals. </a:t>
            </a:r>
          </a:p>
          <a:p>
            <a:r>
              <a:rPr lang="en-IN" sz="1800" b="1" u="sng" dirty="0">
                <a:solidFill>
                  <a:schemeClr val="tx1"/>
                </a:solidFill>
              </a:rPr>
              <a:t>Real-Time Feedback Loop</a:t>
            </a:r>
            <a:r>
              <a:rPr lang="en-IN" sz="1800" u="sng" dirty="0">
                <a:solidFill>
                  <a:schemeClr val="tx1"/>
                </a:solidFill>
              </a:rPr>
              <a:t> </a:t>
            </a:r>
            <a:r>
              <a:rPr lang="en-IN" sz="1800" dirty="0">
                <a:solidFill>
                  <a:schemeClr val="tx1"/>
                </a:solidFill>
              </a:rPr>
              <a:t>– Continuously adapts recommendations based on daily food logs and user </a:t>
            </a:r>
            <a:r>
              <a:rPr lang="en-IN" sz="1800" dirty="0" err="1">
                <a:solidFill>
                  <a:schemeClr val="tx1"/>
                </a:solidFill>
              </a:rPr>
              <a:t>behavior</a:t>
            </a:r>
            <a:r>
              <a:rPr lang="en-IN" sz="1800" dirty="0">
                <a:solidFill>
                  <a:schemeClr val="tx1"/>
                </a:solidFill>
              </a:rPr>
              <a:t>. </a:t>
            </a:r>
          </a:p>
          <a:p>
            <a:r>
              <a:rPr lang="en-IN" sz="1800" b="1" u="sng" dirty="0">
                <a:solidFill>
                  <a:schemeClr val="tx1"/>
                </a:solidFill>
              </a:rPr>
              <a:t>Multi-Modal Input</a:t>
            </a:r>
            <a:r>
              <a:rPr lang="en-IN" sz="1800" u="sng" dirty="0">
                <a:solidFill>
                  <a:schemeClr val="tx1"/>
                </a:solidFill>
              </a:rPr>
              <a:t> </a:t>
            </a:r>
            <a:r>
              <a:rPr lang="en-IN" sz="1800" dirty="0">
                <a:solidFill>
                  <a:schemeClr val="tx1"/>
                </a:solidFill>
              </a:rPr>
              <a:t>– Supports text, voice, and image-based meal tracking for better usability. </a:t>
            </a:r>
          </a:p>
          <a:p>
            <a:r>
              <a:rPr lang="en-IN" sz="1800" b="1" u="sng" dirty="0">
                <a:solidFill>
                  <a:schemeClr val="tx1"/>
                </a:solidFill>
              </a:rPr>
              <a:t>Preventive Healthcare Focus</a:t>
            </a:r>
            <a:r>
              <a:rPr lang="en-IN" sz="1800" u="sng" dirty="0">
                <a:solidFill>
                  <a:schemeClr val="tx1"/>
                </a:solidFill>
              </a:rPr>
              <a:t> </a:t>
            </a:r>
            <a:r>
              <a:rPr lang="en-IN" sz="1800" dirty="0">
                <a:solidFill>
                  <a:schemeClr val="tx1"/>
                </a:solidFill>
              </a:rPr>
              <a:t>– Goes beyond diet planning to provide disease-specific nutrition advice. </a:t>
            </a:r>
          </a:p>
          <a:p>
            <a:r>
              <a:rPr lang="en-IN" sz="1800" b="1" u="sng" dirty="0">
                <a:solidFill>
                  <a:schemeClr val="tx1"/>
                </a:solidFill>
              </a:rPr>
              <a:t>Scalable &amp; Enterprise-Ready</a:t>
            </a:r>
            <a:r>
              <a:rPr lang="en-IN" sz="1800" u="sng" dirty="0">
                <a:solidFill>
                  <a:schemeClr val="tx1"/>
                </a:solidFill>
              </a:rPr>
              <a:t> </a:t>
            </a:r>
            <a:r>
              <a:rPr lang="en-IN" sz="1800" dirty="0">
                <a:solidFill>
                  <a:schemeClr val="tx1"/>
                </a:solidFill>
              </a:rPr>
              <a:t>– Built on </a:t>
            </a:r>
            <a:r>
              <a:rPr lang="en-IN" sz="1800" b="1" dirty="0">
                <a:solidFill>
                  <a:schemeClr val="tx1"/>
                </a:solidFill>
              </a:rPr>
              <a:t>IBM watsonx.ai</a:t>
            </a:r>
            <a:r>
              <a:rPr lang="en-IN" sz="1800" dirty="0">
                <a:solidFill>
                  <a:schemeClr val="tx1"/>
                </a:solidFill>
              </a:rPr>
              <a:t> with </a:t>
            </a:r>
            <a:r>
              <a:rPr lang="en-IN" sz="1800" b="1" dirty="0">
                <a:solidFill>
                  <a:schemeClr val="tx1"/>
                </a:solidFill>
              </a:rPr>
              <a:t>IBM Granite models</a:t>
            </a:r>
            <a:r>
              <a:rPr lang="en-IN" sz="1800" dirty="0">
                <a:solidFill>
                  <a:schemeClr val="tx1"/>
                </a:solidFill>
              </a:rPr>
              <a:t>, ensuring reliability and governance. </a:t>
            </a:r>
          </a:p>
          <a:p>
            <a:endParaRPr lang="en-IN" sz="1800" dirty="0">
              <a:solidFill>
                <a:schemeClr val="tx1"/>
              </a:solidFill>
            </a:endParaRPr>
          </a:p>
          <a:p>
            <a:r>
              <a:rPr lang="en-IN" sz="1800" dirty="0">
                <a:solidFill>
                  <a:schemeClr val="tx1"/>
                </a:solidFill>
              </a:rPr>
              <a:t>This makes the solution a </a:t>
            </a:r>
            <a:r>
              <a:rPr lang="en-IN" sz="1800" b="1" dirty="0">
                <a:solidFill>
                  <a:schemeClr val="tx1"/>
                </a:solidFill>
              </a:rPr>
              <a:t>smart, adaptive, and proactive digital nutritionist</a:t>
            </a:r>
            <a:r>
              <a:rPr lang="en-IN" sz="1800" dirty="0">
                <a:solidFill>
                  <a:schemeClr val="tx1"/>
                </a:solidFill>
              </a:rPr>
              <a:t>, not just a static diet recommendation tool.</a:t>
            </a:r>
            <a:endParaRPr lang="en-US" dirty="0">
              <a:solidFill>
                <a:schemeClr val="tx1"/>
              </a:solidFill>
            </a:endParaRPr>
          </a:p>
          <a:p>
            <a:endParaRPr lang="en-IN" dirty="0">
              <a:solidFill>
                <a:schemeClr val="tx1"/>
              </a:solidFill>
            </a:endParaRPr>
          </a:p>
        </p:txBody>
      </p:sp>
      <p:sp>
        <p:nvSpPr>
          <p:cNvPr id="2" name="TextBox 1">
            <a:extLst>
              <a:ext uri="{FF2B5EF4-FFF2-40B4-BE49-F238E27FC236}">
                <a16:creationId xmlns:a16="http://schemas.microsoft.com/office/drawing/2014/main" id="{6FA184BA-BCF2-3D7B-30D0-0F3CF30C161B}"/>
              </a:ext>
            </a:extLst>
          </p:cNvPr>
          <p:cNvSpPr txBox="1"/>
          <p:nvPr/>
        </p:nvSpPr>
        <p:spPr>
          <a:xfrm>
            <a:off x="197137" y="494464"/>
            <a:ext cx="7123176" cy="461665"/>
          </a:xfrm>
          <a:prstGeom prst="rect">
            <a:avLst/>
          </a:prstGeom>
          <a:solidFill>
            <a:schemeClr val="bg1">
              <a:lumMod val="85000"/>
            </a:schemeClr>
          </a:solidFill>
          <a:ln>
            <a:noFill/>
          </a:ln>
          <a:effectLst>
            <a:glow rad="63500">
              <a:schemeClr val="accent3">
                <a:satMod val="175000"/>
                <a:alpha val="40000"/>
              </a:schemeClr>
            </a:glow>
            <a:outerShdw blurRad="107950" dist="12700" dir="5400000" algn="ctr">
              <a:srgbClr val="000000"/>
            </a:outerShdw>
          </a:effectLst>
          <a:scene3d>
            <a:camera prst="obliqueTopRight"/>
            <a:lightRig rig="soft" dir="t">
              <a:rot lat="0" lon="0" rev="0"/>
            </a:lightRig>
          </a:scene3d>
          <a:sp3d contourW="44450" prstMaterial="matte">
            <a:bevelT w="63500" h="63500"/>
            <a:contourClr>
              <a:srgbClr val="FFFFFF"/>
            </a:contourClr>
          </a:sp3d>
        </p:spPr>
        <p:txBody>
          <a:bodyPr wrap="square" rtlCol="0">
            <a:spAutoFit/>
          </a:bodyPr>
          <a:lstStyle/>
          <a:p>
            <a:r>
              <a:rPr lang="en-US" sz="2400" b="1" u="sng">
                <a:solidFill>
                  <a:srgbClr val="7030A0"/>
                </a:solidFill>
              </a:rPr>
              <a:t>Novelty and Uniqueness</a:t>
            </a:r>
            <a:endParaRPr lang="en-IN" sz="2400" b="1" u="sng">
              <a:solidFill>
                <a:srgbClr val="7030A0"/>
              </a:solidFill>
            </a:endParaRPr>
          </a:p>
        </p:txBody>
      </p:sp>
    </p:spTree>
    <p:extLst>
      <p:ext uri="{BB962C8B-B14F-4D97-AF65-F5344CB8AC3E}">
        <p14:creationId xmlns:p14="http://schemas.microsoft.com/office/powerpoint/2010/main" val="23252822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err="1">
                <a:sym typeface="Times New Roman"/>
              </a:rPr>
              <a:t>Git</a:t>
            </a:r>
            <a:r>
              <a:rPr lang="en-US" sz="2400" b="1" dirty="0">
                <a:sym typeface="Times New Roman"/>
              </a:rPr>
              <a: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rPr>
              <a:t>LINK FOR </a:t>
            </a:r>
            <a:r>
              <a:rPr lang="en-IN" sz="1850" dirty="0" smtClean="0">
                <a:latin typeface="Times New Roman"/>
                <a:ea typeface="Times New Roman"/>
                <a:cs typeface="Times New Roman"/>
                <a:sym typeface="Times New Roman"/>
              </a:rPr>
              <a:t>GITHUB:-----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descr="&lt;strong&gt;GitHub&lt;/strong&gt; und ‚Social Coding‘: Neue Formen der Softwareentwicklung und ..."/>
          <p:cNvPicPr>
            <a:picLocks noChangeAspect="1"/>
          </p:cNvPicPr>
          <p:nvPr/>
        </p:nvPicPr>
        <p:blipFill rotWithShape="1">
          <a:blip r:embed="rId3">
            <a:extLst>
              <a:ext uri="{BEBA8EAE-BF5A-486C-A8C5-ECC9F3942E4B}">
                <a14:imgProps xmlns:a14="http://schemas.microsoft.com/office/drawing/2010/main">
                  <a14:imgLayer r:embed="rId4">
                    <a14:imgEffect>
                      <a14:backgroundRemoval t="10000" b="90000" l="12874" r="87126"/>
                    </a14:imgEffect>
                  </a14:imgLayer>
                </a14:imgProps>
              </a:ext>
              <a:ext uri="{28A0092B-C50C-407E-A947-70E740481C1C}">
                <a14:useLocalDpi xmlns:a14="http://schemas.microsoft.com/office/drawing/2010/main" val="0"/>
              </a:ext>
            </a:extLst>
          </a:blip>
          <a:srcRect l="3592" r="3592"/>
          <a:stretch/>
        </p:blipFill>
        <p:spPr>
          <a:xfrm>
            <a:off x="-33865" y="1"/>
            <a:ext cx="11311466" cy="6858000"/>
          </a:xfrm>
          <a:prstGeom prst="rect">
            <a:avLst/>
          </a:prstGeom>
        </p:spPr>
      </p:pic>
      <p:sp>
        <p:nvSpPr>
          <p:cNvPr id="2" name="Rectangle 1"/>
          <p:cNvSpPr/>
          <p:nvPr/>
        </p:nvSpPr>
        <p:spPr>
          <a:xfrm>
            <a:off x="3931567" y="1226858"/>
            <a:ext cx="2164433" cy="400110"/>
          </a:xfrm>
          <a:prstGeom prst="rect">
            <a:avLst/>
          </a:prstGeom>
        </p:spPr>
        <p:txBody>
          <a:bodyPr wrap="square">
            <a:spAutoFit/>
          </a:bodyPr>
          <a:lstStyle/>
          <a:p>
            <a:r>
              <a:rPr lang="en-IN" sz="2000" b="1" dirty="0" smtClean="0">
                <a:solidFill>
                  <a:schemeClr val="tx1"/>
                </a:solidFill>
                <a:latin typeface="Mona Sans VF"/>
              </a:rPr>
              <a:t>SCHOLAR</a:t>
            </a:r>
            <a:r>
              <a:rPr lang="en-IN" b="1" dirty="0" smtClean="0">
                <a:solidFill>
                  <a:schemeClr val="tx1"/>
                </a:solidFill>
                <a:latin typeface="Mona Sans VF"/>
              </a:rPr>
              <a:t> </a:t>
            </a:r>
            <a:r>
              <a:rPr lang="en-IN" sz="2000" b="1" dirty="0" smtClean="0">
                <a:solidFill>
                  <a:schemeClr val="tx1"/>
                </a:solidFill>
                <a:latin typeface="Mona Sans VF"/>
              </a:rPr>
              <a:t>AI</a:t>
            </a:r>
            <a:r>
              <a:rPr lang="en-IN" sz="2000" b="1" dirty="0" smtClean="0">
                <a:solidFill>
                  <a:srgbClr val="F0F6FC"/>
                </a:solidFill>
                <a:latin typeface="Mona Sans VF"/>
              </a:rPr>
              <a:t>I</a:t>
            </a:r>
            <a:endParaRPr lang="en-IN" sz="2000" b="1" dirty="0">
              <a:solidFill>
                <a:srgbClr val="F0F6FC"/>
              </a:solidFill>
              <a:latin typeface="Mona Sans VF"/>
            </a:endParaRPr>
          </a:p>
        </p:txBody>
      </p:sp>
      <p:graphicFrame>
        <p:nvGraphicFramePr>
          <p:cNvPr id="7" name="Diagram 6"/>
          <p:cNvGraphicFramePr/>
          <p:nvPr>
            <p:extLst>
              <p:ext uri="{D42A27DB-BD31-4B8C-83A1-F6EECF244321}">
                <p14:modId xmlns:p14="http://schemas.microsoft.com/office/powerpoint/2010/main" val="3100567966"/>
              </p:ext>
            </p:extLst>
          </p:nvPr>
        </p:nvGraphicFramePr>
        <p:xfrm>
          <a:off x="0" y="10525"/>
          <a:ext cx="12192000" cy="68474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0404122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pic>
        <p:nvPicPr>
          <p:cNvPr id="2" name="Picture 1" descr="&lt;strong&gt;Future&lt;/strong&gt; classics that will climb in value | Autoca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45" y="0"/>
            <a:ext cx="12400383" cy="6736702"/>
          </a:xfrm>
          <a:prstGeom prst="rect">
            <a:avLst/>
          </a:prstGeom>
        </p:spPr>
      </p:pic>
      <p:sp>
        <p:nvSpPr>
          <p:cNvPr id="278" name="Google Shape;278;p18">
            <a:extLst>
              <a:ext uri="{FF2B5EF4-FFF2-40B4-BE49-F238E27FC236}">
                <a16:creationId xmlns:a16="http://schemas.microsoft.com/office/drawing/2014/main" id="{0668C6FD-577A-7288-5642-1AFC22BD04F2}"/>
              </a:ext>
            </a:extLst>
          </p:cNvPr>
          <p:cNvSpPr/>
          <p:nvPr/>
        </p:nvSpPr>
        <p:spPr>
          <a:xfrm>
            <a:off x="0" y="0"/>
            <a:ext cx="7907867" cy="704017"/>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270933" y="849086"/>
            <a:ext cx="11323320" cy="6008914"/>
          </a:xfrm>
          <a:prstGeom prst="rect">
            <a:avLst/>
          </a:prstGeom>
          <a:solidFill>
            <a:schemeClr val="bg1">
              <a:lumMod val="85000"/>
            </a:schemeClr>
          </a:solidFill>
          <a:ln>
            <a:noFill/>
          </a:ln>
          <a:effectLst/>
        </p:spPr>
        <p:txBody>
          <a:bodyPr spcFirstLastPara="1" wrap="square" lIns="0" tIns="0" rIns="0" bIns="0" anchor="t" anchorCtr="0">
            <a:noAutofit/>
            <a:scene3d>
              <a:camera prst="orthographicFront"/>
              <a:lightRig rig="threePt" dir="t"/>
            </a:scene3d>
            <a:sp3d extrusionH="57150">
              <a:bevelT w="38100" h="38100" prst="relaxedInset"/>
            </a:sp3d>
          </a:bodyPr>
          <a:lstStyle/>
          <a:p>
            <a:r>
              <a:rPr lang="en-US" sz="2000" b="1" u="sng" dirty="0" smtClean="0">
                <a:solidFill>
                  <a:schemeClr val="tx1"/>
                </a:solidFill>
                <a:effectLst>
                  <a:outerShdw blurRad="38100" dist="38100" dir="2700000" algn="tl">
                    <a:srgbClr val="000000">
                      <a:alpha val="43137"/>
                    </a:srgbClr>
                  </a:outerShdw>
                </a:effectLst>
              </a:rPr>
              <a:t>🎙</a:t>
            </a:r>
            <a:r>
              <a:rPr lang="en-US" sz="2000" b="1" u="sng" dirty="0">
                <a:solidFill>
                  <a:schemeClr val="tx1"/>
                </a:solidFill>
                <a:effectLst>
                  <a:outerShdw blurRad="38100" dist="38100" dir="2700000" algn="tl">
                    <a:srgbClr val="000000">
                      <a:alpha val="43137"/>
                    </a:srgbClr>
                  </a:outerShdw>
                </a:effectLst>
              </a:rPr>
              <a:t>️ 1. Voice-Based Learning</a:t>
            </a:r>
          </a:p>
          <a:p>
            <a:r>
              <a:rPr lang="en-US" sz="2000" dirty="0">
                <a:solidFill>
                  <a:schemeClr val="tx1"/>
                </a:solidFill>
                <a:effectLst>
                  <a:innerShdw blurRad="63500" dist="50800" dir="13500000">
                    <a:prstClr val="black">
                      <a:alpha val="50000"/>
                    </a:prstClr>
                  </a:innerShdw>
                </a:effectLst>
              </a:rPr>
              <a:t>Allow students to ask questions and upload voice notes for AI-powered summaries and study material generation.</a:t>
            </a:r>
          </a:p>
          <a:p>
            <a:r>
              <a:rPr lang="en-US" sz="2000" b="1" dirty="0">
                <a:solidFill>
                  <a:schemeClr val="tx1"/>
                </a:solidFill>
                <a:effectLst>
                  <a:innerShdw blurRad="63500" dist="50800" dir="13500000">
                    <a:prstClr val="black">
                      <a:alpha val="50000"/>
                    </a:prstClr>
                  </a:innerShdw>
                </a:effectLst>
              </a:rPr>
              <a:t>📷 </a:t>
            </a:r>
            <a:r>
              <a:rPr lang="en-US" sz="2000" b="1" u="sng" dirty="0">
                <a:solidFill>
                  <a:schemeClr val="tx1"/>
                </a:solidFill>
                <a:effectLst>
                  <a:outerShdw blurRad="38100" dist="38100" dir="2700000" algn="tl">
                    <a:srgbClr val="000000">
                      <a:alpha val="43137"/>
                    </a:srgbClr>
                  </a:outerShdw>
                </a:effectLst>
              </a:rPr>
              <a:t>2. OCR &amp; Image Understanding</a:t>
            </a:r>
          </a:p>
          <a:p>
            <a:r>
              <a:rPr lang="en-US" sz="2000" dirty="0">
                <a:solidFill>
                  <a:schemeClr val="tx1"/>
                </a:solidFill>
                <a:effectLst>
                  <a:innerShdw blurRad="63500" dist="50800" dir="13500000">
                    <a:prstClr val="black">
                      <a:alpha val="50000"/>
                    </a:prstClr>
                  </a:innerShdw>
                </a:effectLst>
              </a:rPr>
              <a:t>Enable students to upload handwritten notes or textbook images and automatically extract, summarize, and organize the content.</a:t>
            </a:r>
          </a:p>
          <a:p>
            <a:r>
              <a:rPr lang="en-US" sz="2000" b="1" dirty="0">
                <a:solidFill>
                  <a:schemeClr val="tx1"/>
                </a:solidFill>
                <a:effectLst>
                  <a:innerShdw blurRad="63500" dist="50800" dir="13500000">
                    <a:prstClr val="black">
                      <a:alpha val="50000"/>
                    </a:prstClr>
                  </a:innerShdw>
                </a:effectLst>
              </a:rPr>
              <a:t>🤖 </a:t>
            </a:r>
            <a:r>
              <a:rPr lang="en-US" sz="2000" b="1" u="sng" dirty="0">
                <a:solidFill>
                  <a:schemeClr val="tx1"/>
                </a:solidFill>
                <a:effectLst>
                  <a:outerShdw blurRad="38100" dist="38100" dir="2700000" algn="tl">
                    <a:srgbClr val="000000">
                      <a:alpha val="43137"/>
                    </a:srgbClr>
                  </a:outerShdw>
                </a:effectLst>
              </a:rPr>
              <a:t>3. Advanced IBM Granite Integration</a:t>
            </a:r>
          </a:p>
          <a:p>
            <a:r>
              <a:rPr lang="en-US" sz="2000" dirty="0">
                <a:solidFill>
                  <a:schemeClr val="tx1"/>
                </a:solidFill>
                <a:effectLst>
                  <a:innerShdw blurRad="63500" dist="50800" dir="13500000">
                    <a:prstClr val="black">
                      <a:alpha val="50000"/>
                    </a:prstClr>
                  </a:innerShdw>
                </a:effectLst>
              </a:rPr>
              <a:t>Replace the current deterministic services with IBM Granite Models for more intelligent summaries, adaptive quizzes, and personalized study recommendations.</a:t>
            </a:r>
          </a:p>
          <a:p>
            <a:r>
              <a:rPr lang="en-US" sz="2000" b="1" dirty="0">
                <a:solidFill>
                  <a:schemeClr val="tx1"/>
                </a:solidFill>
                <a:effectLst>
                  <a:innerShdw blurRad="63500" dist="50800" dir="13500000">
                    <a:prstClr val="black">
                      <a:alpha val="50000"/>
                    </a:prstClr>
                  </a:innerShdw>
                </a:effectLst>
              </a:rPr>
              <a:t>📊 </a:t>
            </a:r>
            <a:r>
              <a:rPr lang="en-US" sz="2000" b="1" u="sng" dirty="0">
                <a:solidFill>
                  <a:schemeClr val="tx1"/>
                </a:solidFill>
                <a:effectLst>
                  <a:outerShdw blurRad="38100" dist="38100" dir="2700000" algn="tl">
                    <a:srgbClr val="000000">
                      <a:alpha val="43137"/>
                    </a:srgbClr>
                  </a:outerShdw>
                </a:effectLst>
              </a:rPr>
              <a:t>4. Learning Analytics Dashboard</a:t>
            </a:r>
          </a:p>
          <a:p>
            <a:r>
              <a:rPr lang="en-US" sz="2000" dirty="0">
                <a:solidFill>
                  <a:schemeClr val="tx1"/>
                </a:solidFill>
                <a:effectLst>
                  <a:innerShdw blurRad="63500" dist="50800" dir="13500000">
                    <a:prstClr val="black">
                      <a:alpha val="50000"/>
                    </a:prstClr>
                  </a:innerShdw>
                </a:effectLst>
              </a:rPr>
              <a:t>Visualize study progress, topic mastery, quiz performance, and personalized improvement suggestions through an interactive dashboard.</a:t>
            </a:r>
          </a:p>
          <a:p>
            <a:r>
              <a:rPr lang="en-US" sz="2000" b="1" dirty="0">
                <a:solidFill>
                  <a:schemeClr val="tx1"/>
                </a:solidFill>
                <a:effectLst>
                  <a:innerShdw blurRad="63500" dist="50800" dir="13500000">
                    <a:prstClr val="black">
                      <a:alpha val="50000"/>
                    </a:prstClr>
                  </a:innerShdw>
                </a:effectLst>
              </a:rPr>
              <a:t>🌐 </a:t>
            </a:r>
            <a:r>
              <a:rPr lang="en-US" sz="2000" b="1" u="sng" dirty="0">
                <a:solidFill>
                  <a:schemeClr val="tx1"/>
                </a:solidFill>
                <a:effectLst>
                  <a:outerShdw blurRad="38100" dist="38100" dir="2700000" algn="tl">
                    <a:srgbClr val="000000">
                      <a:alpha val="43137"/>
                    </a:srgbClr>
                  </a:outerShdw>
                </a:effectLst>
              </a:rPr>
              <a:t>5. LMS &amp; Cloud Integration</a:t>
            </a:r>
          </a:p>
          <a:p>
            <a:r>
              <a:rPr lang="en-US" sz="2000" dirty="0">
                <a:solidFill>
                  <a:schemeClr val="tx1"/>
                </a:solidFill>
                <a:effectLst>
                  <a:innerShdw blurRad="63500" dist="50800" dir="13500000">
                    <a:prstClr val="black">
                      <a:alpha val="50000"/>
                    </a:prstClr>
                  </a:innerShdw>
                </a:effectLst>
              </a:rPr>
              <a:t>Integrate with platforms such as Google Classroom, Moodle, or Microsoft Teams to automatically import study materials and assignments.</a:t>
            </a:r>
          </a:p>
          <a:p>
            <a:r>
              <a:rPr lang="en-US" sz="2000" b="1" dirty="0">
                <a:solidFill>
                  <a:schemeClr val="tx1"/>
                </a:solidFill>
                <a:effectLst>
                  <a:innerShdw blurRad="63500" dist="50800" dir="13500000">
                    <a:prstClr val="black">
                      <a:alpha val="50000"/>
                    </a:prstClr>
                  </a:innerShdw>
                </a:effectLst>
              </a:rPr>
              <a:t>📱 </a:t>
            </a:r>
            <a:r>
              <a:rPr lang="en-US" sz="2000" b="1" u="sng" dirty="0">
                <a:solidFill>
                  <a:schemeClr val="tx1"/>
                </a:solidFill>
                <a:effectLst>
                  <a:outerShdw blurRad="38100" dist="38100" dir="2700000" algn="tl">
                    <a:srgbClr val="000000">
                      <a:alpha val="43137"/>
                    </a:srgbClr>
                  </a:outerShdw>
                </a:effectLst>
              </a:rPr>
              <a:t>6. Cross-Platform Mobile Application</a:t>
            </a:r>
          </a:p>
          <a:p>
            <a:r>
              <a:rPr lang="en-US" sz="2000" dirty="0">
                <a:solidFill>
                  <a:schemeClr val="tx1"/>
                </a:solidFill>
                <a:effectLst>
                  <a:innerShdw blurRad="63500" dist="50800" dir="13500000">
                    <a:prstClr val="black">
                      <a:alpha val="50000"/>
                    </a:prstClr>
                  </a:innerShdw>
                </a:effectLst>
              </a:rPr>
              <a:t>Develop Android and iOS applications with cloud synchronization so students can access their personalized study resources anywhere.</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3984" y="10984"/>
            <a:ext cx="6096000" cy="677108"/>
          </a:xfrm>
          <a:prstGeom prst="rect">
            <a:avLst/>
          </a:prstGeom>
          <a:solidFill>
            <a:schemeClr val="tx2">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33984" y="688092"/>
            <a:ext cx="6389965" cy="523220"/>
          </a:xfrm>
          <a:prstGeom prst="rect">
            <a:avLst/>
          </a:prstGeom>
          <a:solidFill>
            <a:schemeClr val="accent1">
              <a:lumMod val="20000"/>
              <a:lumOff val="8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Please  add your </a:t>
            </a:r>
            <a:r>
              <a:rPr lang="en-US" sz="2800" b="1" dirty="0" err="1"/>
              <a:t>credly</a:t>
            </a:r>
            <a:r>
              <a:rPr lang="en-US" sz="2800" b="1" dirty="0"/>
              <a:t> certificate </a:t>
            </a:r>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23933" t="16079" r="23469" b="9844"/>
          <a:stretch/>
        </p:blipFill>
        <p:spPr>
          <a:xfrm>
            <a:off x="194405" y="2647782"/>
            <a:ext cx="3972530" cy="2891758"/>
          </a:xfrm>
          <a:prstGeom prst="rect">
            <a:avLst/>
          </a:prstGeo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22879" t="16121" r="23127" b="8879"/>
          <a:stretch/>
        </p:blipFill>
        <p:spPr>
          <a:xfrm>
            <a:off x="4064630" y="1105877"/>
            <a:ext cx="3767920" cy="2872940"/>
          </a:xfrm>
          <a:prstGeom prst="rect">
            <a:avLst/>
          </a:prstGeom>
        </p:spPr>
      </p:pic>
      <p:pic>
        <p:nvPicPr>
          <p:cNvPr id="7" name="Picture 6"/>
          <p:cNvPicPr>
            <a:picLocks noChangeAspect="1"/>
          </p:cNvPicPr>
          <p:nvPr/>
        </p:nvPicPr>
        <p:blipFill rotWithShape="1">
          <a:blip r:embed="rId5">
            <a:extLst>
              <a:ext uri="{28A0092B-C50C-407E-A947-70E740481C1C}">
                <a14:useLocalDpi xmlns:a14="http://schemas.microsoft.com/office/drawing/2010/main" val="0"/>
              </a:ext>
            </a:extLst>
          </a:blip>
          <a:srcRect l="22525" t="16399" r="23030" b="8497"/>
          <a:stretch/>
        </p:blipFill>
        <p:spPr>
          <a:xfrm>
            <a:off x="7832550" y="2542347"/>
            <a:ext cx="3784843" cy="2832718"/>
          </a:xfrm>
          <a:prstGeom prst="rect">
            <a:avLst/>
          </a:prstGeom>
        </p:spPr>
      </p:pic>
      <p:pic>
        <p:nvPicPr>
          <p:cNvPr id="8" name="Picture 7"/>
          <p:cNvPicPr>
            <a:picLocks noChangeAspect="1"/>
          </p:cNvPicPr>
          <p:nvPr/>
        </p:nvPicPr>
        <p:blipFill rotWithShape="1">
          <a:blip r:embed="rId6">
            <a:extLst>
              <a:ext uri="{28A0092B-C50C-407E-A947-70E740481C1C}">
                <a14:useLocalDpi xmlns:a14="http://schemas.microsoft.com/office/drawing/2010/main" val="0"/>
              </a:ext>
            </a:extLst>
          </a:blip>
          <a:srcRect l="26262" t="17798" r="27071" b="30014"/>
          <a:stretch/>
        </p:blipFill>
        <p:spPr>
          <a:xfrm>
            <a:off x="4155440" y="3978817"/>
            <a:ext cx="3853302" cy="2802239"/>
          </a:xfrm>
          <a:prstGeom prst="rect">
            <a:avLst/>
          </a:prstGeom>
        </p:spPr>
      </p:pic>
    </p:spTree>
    <p:extLst>
      <p:ext uri="{BB962C8B-B14F-4D97-AF65-F5344CB8AC3E}">
        <p14:creationId xmlns:p14="http://schemas.microsoft.com/office/powerpoint/2010/main" val="283348271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2">
            <a:lumMod val="60000"/>
            <a:lumOff val="40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solidFill>
            <a:schemeClr val="bg2">
              <a:lumMod val="75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5461" r="5558" b="4481"/>
          <a:stretch/>
        </p:blipFill>
        <p:spPr>
          <a:xfrm>
            <a:off x="1339482" y="1200580"/>
            <a:ext cx="9513036" cy="5657420"/>
          </a:xfrm>
          <a:prstGeom prst="rect">
            <a:avLst/>
          </a:prstGeom>
          <a:solidFill>
            <a:schemeClr val="bg2">
              <a:lumMod val="60000"/>
              <a:lumOff val="40000"/>
            </a:schemeClr>
          </a:solidFill>
          <a:ln>
            <a:solidFill>
              <a:schemeClr val="bg2">
                <a:lumMod val="60000"/>
                <a:lumOff val="40000"/>
              </a:schemeClr>
            </a:solidFill>
          </a:ln>
        </p:spPr>
      </p:pic>
    </p:spTree>
    <p:extLst>
      <p:ext uri="{BB962C8B-B14F-4D97-AF65-F5344CB8AC3E}">
        <p14:creationId xmlns:p14="http://schemas.microsoft.com/office/powerpoint/2010/main" val="417517770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4">
            <a:alphaModFix/>
          </a:blip>
          <a:srcRect/>
          <a:stretch/>
        </p:blipFill>
        <p:spPr>
          <a:xfrm>
            <a:off x="822613" y="1693718"/>
            <a:ext cx="10546773" cy="1653244"/>
          </a:xfrm>
          <a:prstGeom prst="rect">
            <a:avLst/>
          </a:prstGeom>
          <a:blipFill>
            <a:blip r:embed="rId5"/>
            <a:stretch>
              <a:fillRect/>
            </a:stretch>
          </a:blipFill>
          <a:ln>
            <a:solidFill>
              <a:srgbClr val="00B0F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144013734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439</TotalTime>
  <Words>1310</Words>
  <Application>Microsoft Office PowerPoint</Application>
  <PresentationFormat>Widescreen</PresentationFormat>
  <Paragraphs>161</Paragraphs>
  <Slides>28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Arial Unicode MS</vt:lpstr>
      <vt:lpstr>Calibri</vt:lpstr>
      <vt:lpstr>Mona Sans VF</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Anushka Raj</cp:lastModifiedBy>
  <cp:revision>40</cp:revision>
  <dcterms:created xsi:type="dcterms:W3CDTF">2025-07-08T05:06:56Z</dcterms:created>
  <dcterms:modified xsi:type="dcterms:W3CDTF">2026-08-14T19:01:52Z</dcterms:modified>
</cp:coreProperties>
</file>